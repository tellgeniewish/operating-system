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512" r:id="rId3"/>
    <p:sldId id="509" r:id="rId4"/>
    <p:sldId id="510" r:id="rId5"/>
    <p:sldId id="511" r:id="rId6"/>
    <p:sldId id="263" r:id="rId7"/>
    <p:sldId id="418" r:id="rId8"/>
    <p:sldId id="466" r:id="rId9"/>
    <p:sldId id="422" r:id="rId10"/>
    <p:sldId id="513" r:id="rId11"/>
    <p:sldId id="514" r:id="rId12"/>
    <p:sldId id="515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>
        <p:scale>
          <a:sx n="159" d="100"/>
          <a:sy n="159" d="100"/>
        </p:scale>
        <p:origin x="-3468" y="-24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3:12:38.0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0 114 2072 0 0,'24'-18'1276'0'0,"-20"16"-918"0"0,0 0 0 0 0,-1-1 0 0 0,1 0 1 0 0,-1 0-1 0 0,0 1 0 0 0,0-2 0 0 0,5-5 0 0 0,-6 7-354 0 0,0 0-1 0 0,0 1 0 0 0,-1-1 1 0 0,1 1-1 0 0,1-1 1 0 0,-1 1-1 0 0,0 0 0 0 0,0 0 1 0 0,0 0-1 0 0,1 0 0 0 0,-1 0 1 0 0,0 1-1 0 0,1-1 1 0 0,-1 1-1 0 0,1-1 0 0 0,-1 1 1 0 0,5 0-1 0 0,53 2 313 0 0,-34-1-107 0 0,302-15 663 0 0,-188 3-206 0 0,0-1-365 0 0,199-3 560 0 0,-147 18-733 0 0,-172-7-1059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3T03:12:39.33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0 124 3593 0 0,'49'-19'4759'0'0,"-25"10"-4736"0"0,1 2 0 0 0,0 2 0 0 0,0 0 0 0 0,1 1 0 0 0,38 0 0 0 0,-19 0 64 0 0,105-14 104 0 0,58-5-37 0 0,142 6 282 0 0,-288 13-423 0 0,74 0-123 0 0,180 8 91 0 0,-297-3-111 0 0,-13-1-18 0 0,1 1 0 0 0,0-1 1 0 0,-1 0-1 0 0,1-1 0 0 0,-1 0 0 0 0,11-2 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/>
              <a:t>마스터 부제목 스타일 편집</a:t>
            </a:r>
            <a:endParaRPr lang="en-US" altLang="ko-KR" noProof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›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96485448"/>
      </p:ext>
    </p:extLst>
  </p:cSld>
  <p:clrMapOvr>
    <a:masterClrMapping/>
  </p:clrMapOvr>
  <p:transition spd="med">
    <p:fade thruBlk="1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59632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8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70039" y="3356992"/>
            <a:ext cx="6480720" cy="792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리눅스 사용법 </a:t>
            </a: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(4)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ls  </a:t>
            </a:r>
            <a:r>
              <a:rPr lang="en-US" altLang="ko-KR" sz="1800" b="1" dirty="0"/>
              <a:t>-l</a:t>
            </a:r>
          </a:p>
          <a:p>
            <a:pPr lvl="2"/>
            <a:r>
              <a:rPr lang="ko-KR" altLang="en-US" sz="1600" dirty="0"/>
              <a:t>파일 및 디렉토리 표시</a:t>
            </a:r>
            <a:r>
              <a:rPr lang="en-US" altLang="ko-KR" sz="1600" dirty="0"/>
              <a:t>, </a:t>
            </a:r>
            <a:r>
              <a:rPr lang="ko-KR" altLang="en-US" sz="1600" dirty="0"/>
              <a:t>접근에 대한 허가사항</a:t>
            </a:r>
            <a:r>
              <a:rPr lang="en-US" altLang="ko-KR" sz="1600" dirty="0"/>
              <a:t>, </a:t>
            </a:r>
            <a:r>
              <a:rPr lang="ko-KR" altLang="en-US" sz="1600" dirty="0"/>
              <a:t>링크 수</a:t>
            </a:r>
            <a:r>
              <a:rPr lang="en-US" altLang="ko-KR" sz="1600" dirty="0"/>
              <a:t>, </a:t>
            </a:r>
            <a:r>
              <a:rPr lang="ko-KR" altLang="en-US" sz="1600" dirty="0"/>
              <a:t>사용자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등록명</a:t>
            </a:r>
            <a:r>
              <a:rPr lang="en-US" altLang="ko-KR" sz="1600" dirty="0"/>
              <a:t>(</a:t>
            </a:r>
            <a:r>
              <a:rPr lang="ko-KR" altLang="en-US" sz="1600" dirty="0" err="1"/>
              <a:t>그룹명</a:t>
            </a:r>
            <a:r>
              <a:rPr lang="en-US" altLang="ko-KR" sz="1600" dirty="0"/>
              <a:t>)</a:t>
            </a:r>
            <a:r>
              <a:rPr lang="ko-KR" altLang="en-US" sz="1600" dirty="0"/>
              <a:t>과 파일의 크기 및 최종적으로 수정된 시간 등을 세부적으로 나열</a:t>
            </a:r>
            <a:endParaRPr lang="en-US" altLang="ko-KR" sz="1600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2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27"/>
          <a:stretch/>
        </p:blipFill>
        <p:spPr>
          <a:xfrm>
            <a:off x="539552" y="2276872"/>
            <a:ext cx="6192688" cy="260725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077072"/>
            <a:ext cx="3816105" cy="2433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59ABD473-A556-9E90-8183-D29DC6502B4B}"/>
                  </a:ext>
                </a:extLst>
              </p14:cNvPr>
              <p14:cNvContentPartPr/>
              <p14:nvPr/>
            </p14:nvContentPartPr>
            <p14:xfrm>
              <a:off x="6779766" y="4652507"/>
              <a:ext cx="484200" cy="414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59ABD473-A556-9E90-8183-D29DC6502B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43766" y="4580507"/>
                <a:ext cx="555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99864695-7DEA-873C-F6BB-23A8FA79FD61}"/>
                  </a:ext>
                </a:extLst>
              </p14:cNvPr>
              <p14:cNvContentPartPr/>
              <p14:nvPr/>
            </p14:nvContentPartPr>
            <p14:xfrm>
              <a:off x="7351446" y="4660427"/>
              <a:ext cx="569160" cy="4464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99864695-7DEA-873C-F6BB-23A8FA79FD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15446" y="4588787"/>
                <a:ext cx="640800" cy="18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4151219"/>
      </p:ext>
    </p:extLst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chmod</a:t>
            </a:r>
            <a:r>
              <a:rPr lang="en-US" altLang="ko-KR" dirty="0"/>
              <a:t>  (Change Mode)</a:t>
            </a:r>
          </a:p>
          <a:p>
            <a:pPr lvl="2"/>
            <a:r>
              <a:rPr lang="ko-KR" altLang="en-US" dirty="0"/>
              <a:t>권한</a:t>
            </a:r>
            <a:r>
              <a:rPr lang="en-US" altLang="ko-KR" dirty="0"/>
              <a:t>: </a:t>
            </a:r>
            <a:r>
              <a:rPr lang="ko-KR" altLang="en-US" dirty="0"/>
              <a:t>읽기</a:t>
            </a:r>
            <a:r>
              <a:rPr lang="en-US" altLang="ko-KR" dirty="0"/>
              <a:t>(Read), </a:t>
            </a:r>
            <a:r>
              <a:rPr lang="ko-KR" altLang="en-US" dirty="0"/>
              <a:t>쓰기</a:t>
            </a:r>
            <a:r>
              <a:rPr lang="en-US" altLang="ko-KR" dirty="0"/>
              <a:t>(Write), </a:t>
            </a:r>
            <a:r>
              <a:rPr lang="ko-KR" altLang="en-US" dirty="0"/>
              <a:t>실행</a:t>
            </a:r>
            <a:r>
              <a:rPr lang="en-US" altLang="ko-KR" dirty="0"/>
              <a:t>(</a:t>
            </a:r>
            <a:r>
              <a:rPr lang="en-US" altLang="ko-KR" dirty="0" err="1"/>
              <a:t>eXecute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파일이나 </a:t>
            </a:r>
            <a:r>
              <a:rPr lang="ko-KR" altLang="en-US" dirty="0" err="1"/>
              <a:t>디렉토리에</a:t>
            </a:r>
            <a:r>
              <a:rPr lang="ko-KR" altLang="en-US" dirty="0"/>
              <a:t> 접근하려면 권한에 대한 설정이 되어 있어야 하며</a:t>
            </a:r>
            <a:r>
              <a:rPr lang="en-US" altLang="ko-KR" dirty="0"/>
              <a:t>, </a:t>
            </a:r>
            <a:r>
              <a:rPr lang="ko-KR" altLang="en-US" dirty="0"/>
              <a:t>슈퍼 사용자 </a:t>
            </a:r>
            <a:r>
              <a:rPr lang="en-US" altLang="ko-KR" dirty="0"/>
              <a:t>root</a:t>
            </a:r>
            <a:r>
              <a:rPr lang="ko-KR" altLang="en-US" dirty="0"/>
              <a:t>는 모든 권한을 갖고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허가사항</a:t>
            </a:r>
            <a:r>
              <a:rPr lang="en-US" altLang="ko-KR" dirty="0"/>
              <a:t>: </a:t>
            </a:r>
            <a:r>
              <a:rPr lang="ko-KR" altLang="en-US" dirty="0"/>
              <a:t>읽기는 ‘</a:t>
            </a:r>
            <a:r>
              <a:rPr lang="en-US" altLang="ko-KR" dirty="0"/>
              <a:t>r’, </a:t>
            </a:r>
            <a:r>
              <a:rPr lang="ko-KR" altLang="en-US" dirty="0"/>
              <a:t>쓰기는 ‘</a:t>
            </a:r>
            <a:r>
              <a:rPr lang="en-US" altLang="ko-KR" dirty="0"/>
              <a:t>w’, </a:t>
            </a:r>
            <a:r>
              <a:rPr lang="ko-KR" altLang="en-US" dirty="0"/>
              <a:t>실행은 ‘</a:t>
            </a:r>
            <a:r>
              <a:rPr lang="en-US" altLang="ko-KR" dirty="0"/>
              <a:t>x’, </a:t>
            </a:r>
            <a:r>
              <a:rPr lang="ko-KR" altLang="en-US" dirty="0"/>
              <a:t>허가 금지는 ‘</a:t>
            </a:r>
            <a:r>
              <a:rPr lang="en-US" altLang="ko-KR" dirty="0"/>
              <a:t>-’</a:t>
            </a:r>
            <a:r>
              <a:rPr lang="ko-KR" altLang="en-US" dirty="0"/>
              <a:t>로 표시한다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사용자 권한 </a:t>
            </a:r>
            <a:r>
              <a:rPr lang="en-US" altLang="ko-KR" dirty="0"/>
              <a:t>: </a:t>
            </a:r>
            <a:r>
              <a:rPr lang="ko-KR" altLang="en-US" dirty="0"/>
              <a:t>첫 번째 칼럼</a:t>
            </a:r>
            <a:r>
              <a:rPr lang="en-US" altLang="ko-KR" dirty="0"/>
              <a:t>(</a:t>
            </a:r>
            <a:r>
              <a:rPr lang="en-US" altLang="ko-KR" dirty="0" err="1"/>
              <a:t>rwx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그룹 권한 </a:t>
            </a:r>
            <a:r>
              <a:rPr lang="en-US" altLang="ko-KR" dirty="0"/>
              <a:t>: </a:t>
            </a:r>
            <a:r>
              <a:rPr lang="ko-KR" altLang="en-US" dirty="0"/>
              <a:t>두 번째 칼럼</a:t>
            </a:r>
            <a:r>
              <a:rPr lang="en-US" altLang="ko-KR" dirty="0"/>
              <a:t>(r-x)</a:t>
            </a:r>
          </a:p>
          <a:p>
            <a:pPr lvl="2"/>
            <a:r>
              <a:rPr lang="ko-KR" altLang="en-US" dirty="0"/>
              <a:t>다른 사용자들 권한</a:t>
            </a:r>
            <a:r>
              <a:rPr lang="en-US" altLang="ko-KR" dirty="0"/>
              <a:t> : </a:t>
            </a:r>
            <a:r>
              <a:rPr lang="ko-KR" altLang="en-US" dirty="0"/>
              <a:t>나타내는 세 번째 칼럼</a:t>
            </a:r>
            <a:r>
              <a:rPr lang="en-US" altLang="ko-KR" dirty="0"/>
              <a:t>(r-x)</a:t>
            </a:r>
          </a:p>
          <a:p>
            <a:pPr lvl="2"/>
            <a:r>
              <a:rPr lang="ko-KR" altLang="en-US" dirty="0"/>
              <a:t>이러한 파일 및 </a:t>
            </a:r>
            <a:r>
              <a:rPr lang="ko-KR" altLang="en-US" dirty="0" err="1"/>
              <a:t>디렉토리에</a:t>
            </a:r>
            <a:r>
              <a:rPr lang="ko-KR" altLang="en-US" dirty="0"/>
              <a:t> 대한 접근 허가사항을 변경하기 위한 명령</a:t>
            </a:r>
            <a:endParaRPr lang="en-US" altLang="ko-KR" dirty="0"/>
          </a:p>
          <a:p>
            <a:pPr lvl="2"/>
            <a:r>
              <a:rPr lang="en-US" altLang="ko-KR" dirty="0" err="1"/>
              <a:t>chmod</a:t>
            </a:r>
            <a:r>
              <a:rPr lang="en-US" altLang="ko-KR" dirty="0"/>
              <a:t> </a:t>
            </a:r>
            <a:r>
              <a:rPr lang="ko-KR" altLang="en-US" dirty="0"/>
              <a:t>명령의 사용 방법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989729" y="2852936"/>
            <a:ext cx="6768752" cy="648072"/>
          </a:xfrm>
          <a:prstGeom prst="roundRect">
            <a:avLst>
              <a:gd name="adj" fmla="val 12295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ls -l</a:t>
            </a: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drwxr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xr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-x 2 root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root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4096 5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18 14:59 java</a:t>
            </a:r>
          </a:p>
        </p:txBody>
      </p:sp>
    </p:spTree>
    <p:extLst>
      <p:ext uri="{BB962C8B-B14F-4D97-AF65-F5344CB8AC3E}">
        <p14:creationId xmlns:p14="http://schemas.microsoft.com/office/powerpoint/2010/main" val="194277560"/>
      </p:ext>
    </p:extLst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err="1"/>
              <a:t>chmod</a:t>
            </a:r>
            <a:r>
              <a:rPr lang="en-US" altLang="ko-KR" dirty="0"/>
              <a:t>  (Change Mode)</a:t>
            </a:r>
          </a:p>
          <a:p>
            <a:pPr marL="914400" lvl="2" indent="0">
              <a:buNone/>
            </a:pPr>
            <a:r>
              <a:rPr lang="en-US" altLang="ko-KR" dirty="0"/>
              <a:t>① </a:t>
            </a:r>
            <a:r>
              <a:rPr lang="ko-KR" altLang="en-US" dirty="0"/>
              <a:t>기호모드</a:t>
            </a:r>
            <a:r>
              <a:rPr lang="en-US" altLang="ko-KR" dirty="0"/>
              <a:t>(Symbolic Mode) </a:t>
            </a:r>
            <a:r>
              <a:rPr lang="ko-KR" altLang="en-US" dirty="0"/>
              <a:t>사용법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pPr lvl="3"/>
            <a:endParaRPr lang="en-US" altLang="ko-KR" sz="1400" dirty="0"/>
          </a:p>
          <a:p>
            <a:pPr lvl="3"/>
            <a:r>
              <a:rPr lang="en-US" altLang="ko-KR" sz="1400" dirty="0"/>
              <a:t>u: </a:t>
            </a:r>
            <a:r>
              <a:rPr lang="ko-KR" altLang="en-US" sz="1400" dirty="0"/>
              <a:t>사용자</a:t>
            </a:r>
            <a:r>
              <a:rPr lang="en-US" altLang="ko-KR" sz="1400" dirty="0"/>
              <a:t>(user)</a:t>
            </a:r>
          </a:p>
          <a:p>
            <a:pPr lvl="3"/>
            <a:r>
              <a:rPr lang="en-US" altLang="ko-KR" sz="1400" dirty="0"/>
              <a:t>g: </a:t>
            </a:r>
            <a:r>
              <a:rPr lang="ko-KR" altLang="en-US" sz="1400" dirty="0"/>
              <a:t>사용자가 속한 그룹</a:t>
            </a:r>
            <a:r>
              <a:rPr lang="en-US" altLang="ko-KR" sz="1400" dirty="0"/>
              <a:t>(group)</a:t>
            </a:r>
          </a:p>
          <a:p>
            <a:pPr lvl="3"/>
            <a:r>
              <a:rPr lang="en-US" altLang="ko-KR" sz="1400" dirty="0"/>
              <a:t>o: </a:t>
            </a:r>
            <a:r>
              <a:rPr lang="ko-KR" altLang="en-US" sz="1400" dirty="0"/>
              <a:t>기타 사용자 </a:t>
            </a:r>
            <a:r>
              <a:rPr lang="en-US" altLang="ko-KR" sz="1400" dirty="0"/>
              <a:t>(other user)</a:t>
            </a:r>
          </a:p>
          <a:p>
            <a:pPr lvl="3"/>
            <a:r>
              <a:rPr lang="en-US" altLang="ko-KR" sz="1400" dirty="0"/>
              <a:t>a: </a:t>
            </a:r>
            <a:r>
              <a:rPr lang="ko-KR" altLang="en-US" sz="1400" dirty="0"/>
              <a:t>위 모든 경우 </a:t>
            </a:r>
            <a:r>
              <a:rPr lang="en-US" altLang="ko-KR" sz="1400" dirty="0"/>
              <a:t>(all user)</a:t>
            </a:r>
          </a:p>
          <a:p>
            <a:pPr lvl="3"/>
            <a:r>
              <a:rPr lang="en-US" altLang="ko-KR" sz="1400" dirty="0"/>
              <a:t>+: </a:t>
            </a:r>
            <a:r>
              <a:rPr lang="ko-KR" altLang="en-US" sz="1400" dirty="0"/>
              <a:t>허가 첨가</a:t>
            </a:r>
            <a:endParaRPr lang="en-US" altLang="ko-KR" sz="1400" dirty="0"/>
          </a:p>
          <a:p>
            <a:pPr lvl="3"/>
            <a:r>
              <a:rPr lang="en-US" altLang="ko-KR" sz="1400" dirty="0"/>
              <a:t>-: </a:t>
            </a:r>
            <a:r>
              <a:rPr lang="ko-KR" altLang="en-US" sz="1400" dirty="0"/>
              <a:t>허가 삭제</a:t>
            </a:r>
            <a:endParaRPr lang="en-US" altLang="ko-KR" sz="1400" dirty="0"/>
          </a:p>
          <a:p>
            <a:pPr lvl="3"/>
            <a:r>
              <a:rPr lang="en-US" altLang="ko-KR" sz="1400" dirty="0"/>
              <a:t>r: </a:t>
            </a:r>
            <a:r>
              <a:rPr lang="ko-KR" altLang="en-US" sz="1400" dirty="0"/>
              <a:t>일기 허가</a:t>
            </a:r>
            <a:endParaRPr lang="en-US" altLang="ko-KR" sz="1400" dirty="0"/>
          </a:p>
          <a:p>
            <a:pPr lvl="3"/>
            <a:r>
              <a:rPr lang="en-US" altLang="ko-KR" sz="1400" dirty="0"/>
              <a:t>w: </a:t>
            </a:r>
            <a:r>
              <a:rPr lang="ko-KR" altLang="en-US" sz="1400" dirty="0"/>
              <a:t>쓰기 허가</a:t>
            </a:r>
            <a:endParaRPr lang="en-US" altLang="ko-KR" sz="1400" dirty="0"/>
          </a:p>
          <a:p>
            <a:pPr lvl="3"/>
            <a:r>
              <a:rPr lang="en-US" altLang="ko-KR" sz="1400" dirty="0"/>
              <a:t>x: </a:t>
            </a:r>
            <a:r>
              <a:rPr lang="ko-KR" altLang="en-US" sz="1400" dirty="0"/>
              <a:t>실행 허가</a:t>
            </a:r>
            <a:endParaRPr lang="en-US" altLang="ko-KR" sz="1400" dirty="0"/>
          </a:p>
          <a:p>
            <a:pPr marL="914400" lvl="2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1763688" y="1916832"/>
            <a:ext cx="4968552" cy="360040"/>
          </a:xfrm>
          <a:prstGeom prst="roundRect">
            <a:avLst>
              <a:gd name="adj" fmla="val 12295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chmod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[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ugoa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][+-][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rwx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파일 및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282836839"/>
      </p:ext>
    </p:extLst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및 </a:t>
            </a:r>
            <a:r>
              <a:rPr lang="ko-KR" altLang="en-US" dirty="0" err="1"/>
              <a:t>디렉토리</a:t>
            </a:r>
            <a:r>
              <a:rPr lang="ko-KR" altLang="en-US" dirty="0"/>
              <a:t> 관리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807896" cy="5105400"/>
          </a:xfrm>
        </p:spPr>
        <p:txBody>
          <a:bodyPr/>
          <a:lstStyle/>
          <a:p>
            <a:pPr lvl="1"/>
            <a:r>
              <a:rPr lang="en-US" altLang="ko-KR" dirty="0" err="1"/>
              <a:t>chmod</a:t>
            </a:r>
            <a:r>
              <a:rPr lang="en-US" altLang="ko-KR" dirty="0"/>
              <a:t>  (Change Mode)</a:t>
            </a:r>
          </a:p>
          <a:p>
            <a:pPr marL="914400" lvl="2" indent="0">
              <a:buNone/>
            </a:pPr>
            <a:r>
              <a:rPr lang="en-US" altLang="ko-KR" dirty="0"/>
              <a:t>② 8</a:t>
            </a:r>
            <a:r>
              <a:rPr lang="ko-KR" altLang="en-US" dirty="0"/>
              <a:t>진수 모드</a:t>
            </a:r>
            <a:r>
              <a:rPr lang="en-US" altLang="ko-KR" dirty="0"/>
              <a:t>(Octal Mode) </a:t>
            </a:r>
            <a:r>
              <a:rPr lang="ko-KR" altLang="en-US" dirty="0"/>
              <a:t>사용법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r>
              <a:rPr lang="ko-KR" altLang="en-US" dirty="0"/>
              <a:t>허가 </a:t>
            </a:r>
            <a:r>
              <a:rPr lang="ko-KR" altLang="en-US" dirty="0" err="1"/>
              <a:t>비트를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진수로 표시</a:t>
            </a:r>
            <a:r>
              <a:rPr lang="en-US" altLang="ko-KR" dirty="0"/>
              <a:t>: </a:t>
            </a:r>
            <a:r>
              <a:rPr lang="ko-KR" altLang="en-US" dirty="0"/>
              <a:t>허가는 </a:t>
            </a:r>
            <a:r>
              <a:rPr lang="en-US" altLang="ko-KR" dirty="0"/>
              <a:t>1</a:t>
            </a:r>
            <a:r>
              <a:rPr lang="ko-KR" altLang="en-US" dirty="0"/>
              <a:t>을</a:t>
            </a:r>
            <a:r>
              <a:rPr lang="en-US" altLang="ko-KR" dirty="0"/>
              <a:t>, </a:t>
            </a:r>
            <a:r>
              <a:rPr lang="ko-KR" altLang="en-US" dirty="0"/>
              <a:t>그렇지 않을 때에는 </a:t>
            </a:r>
            <a:r>
              <a:rPr lang="en-US" altLang="ko-KR" dirty="0"/>
              <a:t>0</a:t>
            </a:r>
            <a:r>
              <a:rPr lang="ko-KR" altLang="en-US" dirty="0"/>
              <a:t>을 나타냄</a:t>
            </a:r>
            <a:endParaRPr lang="en-US" altLang="ko-KR" dirty="0"/>
          </a:p>
          <a:p>
            <a:pPr lvl="3"/>
            <a:r>
              <a:rPr lang="ko-KR" altLang="en-US" dirty="0"/>
              <a:t>‘</a:t>
            </a:r>
            <a:r>
              <a:rPr lang="en-US" altLang="ko-KR" dirty="0" err="1"/>
              <a:t>rwxrwxrwx</a:t>
            </a:r>
            <a:r>
              <a:rPr lang="en-US" altLang="ko-KR" dirty="0"/>
              <a:t>’</a:t>
            </a:r>
            <a:r>
              <a:rPr lang="ko-KR" altLang="en-US" dirty="0"/>
              <a:t>의 경우 허가사항을 표시하면 ‘</a:t>
            </a:r>
            <a:r>
              <a:rPr lang="en-US" altLang="ko-KR" dirty="0"/>
              <a:t>111111111’ </a:t>
            </a:r>
            <a:r>
              <a:rPr lang="ko-KR" altLang="en-US" dirty="0"/>
              <a:t>이를 다시 </a:t>
            </a:r>
            <a:r>
              <a:rPr lang="en-US" altLang="ko-KR" dirty="0"/>
              <a:t>8</a:t>
            </a:r>
            <a:r>
              <a:rPr lang="ko-KR" altLang="en-US" dirty="0"/>
              <a:t>진수로 표기하면 ‘</a:t>
            </a:r>
            <a:r>
              <a:rPr lang="en-US" altLang="ko-KR" dirty="0"/>
              <a:t>777’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lvl="3"/>
            <a:r>
              <a:rPr lang="ko-KR" altLang="en-US" dirty="0"/>
              <a:t>‘</a:t>
            </a:r>
            <a:r>
              <a:rPr lang="en-US" altLang="ko-KR" dirty="0"/>
              <a:t>r-</a:t>
            </a:r>
            <a:r>
              <a:rPr lang="en-US" altLang="ko-KR" dirty="0" err="1"/>
              <a:t>xr</a:t>
            </a:r>
            <a:r>
              <a:rPr lang="en-US" altLang="ko-KR" dirty="0"/>
              <a:t>-</a:t>
            </a:r>
            <a:r>
              <a:rPr lang="en-US" altLang="ko-KR" dirty="0" err="1"/>
              <a:t>xr</a:t>
            </a:r>
            <a:r>
              <a:rPr lang="en-US" altLang="ko-KR" dirty="0"/>
              <a:t>-x’</a:t>
            </a:r>
            <a:r>
              <a:rPr lang="ko-KR" altLang="en-US" dirty="0"/>
              <a:t>의 경우 허가사항을 표시하면 ‘</a:t>
            </a:r>
            <a:r>
              <a:rPr lang="en-US" altLang="ko-KR" dirty="0"/>
              <a:t>101101101’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이를 다시 </a:t>
            </a:r>
            <a:r>
              <a:rPr lang="en-US" altLang="ko-KR" dirty="0"/>
              <a:t>8</a:t>
            </a:r>
            <a:r>
              <a:rPr lang="ko-KR" altLang="en-US" dirty="0"/>
              <a:t>진수로 표기하면 ‘</a:t>
            </a:r>
            <a:r>
              <a:rPr lang="en-US" altLang="ko-KR" dirty="0"/>
              <a:t>555’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5</a:t>
            </a:fld>
            <a:endParaRPr lang="en-US" altLang="ko-KR"/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1763688" y="1844824"/>
            <a:ext cx="4968552" cy="360040"/>
          </a:xfrm>
          <a:prstGeom prst="roundRect">
            <a:avLst>
              <a:gd name="adj" fmla="val 12295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chmod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[8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진수 표기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파일 및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디렉토리명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99688727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파일의 묶음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908720"/>
            <a:ext cx="8663880" cy="5105400"/>
          </a:xfrm>
        </p:spPr>
        <p:txBody>
          <a:bodyPr/>
          <a:lstStyle/>
          <a:p>
            <a:r>
              <a:rPr lang="ko-KR" altLang="en-US" dirty="0"/>
              <a:t>파일의 묶음 </a:t>
            </a:r>
            <a:r>
              <a:rPr lang="en-US" altLang="ko-KR" dirty="0"/>
              <a:t>(</a:t>
            </a:r>
            <a:r>
              <a:rPr lang="ko-KR" altLang="en-US" dirty="0"/>
              <a:t>윈도우 운영체제의 알집과 유사하게 동작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tar(Tape </a:t>
            </a:r>
            <a:r>
              <a:rPr lang="en-US" altLang="ko-KR" dirty="0" err="1"/>
              <a:t>ARchive</a:t>
            </a:r>
            <a:r>
              <a:rPr lang="en-US" altLang="ko-KR" dirty="0"/>
              <a:t>) </a:t>
            </a:r>
            <a:endParaRPr lang="ko-KR" altLang="en-US" dirty="0"/>
          </a:p>
          <a:p>
            <a:pPr lvl="2"/>
            <a:r>
              <a:rPr lang="ko-KR" altLang="en-US" dirty="0"/>
              <a:t>지정된 여러 개의 파일을 </a:t>
            </a:r>
            <a:r>
              <a:rPr lang="ko-KR" altLang="en-US" dirty="0" err="1"/>
              <a:t>아카이브라고</a:t>
            </a:r>
            <a:r>
              <a:rPr lang="ko-KR" altLang="en-US" dirty="0"/>
              <a:t> 부르는 하나의 파일로 만들거나</a:t>
            </a:r>
            <a:r>
              <a:rPr lang="en-US" altLang="ko-KR" dirty="0"/>
              <a:t>, </a:t>
            </a:r>
            <a:r>
              <a:rPr lang="ko-KR" altLang="en-US" dirty="0"/>
              <a:t>하나의 </a:t>
            </a:r>
            <a:r>
              <a:rPr lang="ko-KR" altLang="en-US" dirty="0" err="1"/>
              <a:t>아카이브</a:t>
            </a:r>
            <a:r>
              <a:rPr lang="ko-KR" altLang="en-US" dirty="0"/>
              <a:t> 파일에 집적된 여러 개의 파일을 원래의 형태대로 추출하는 명령</a:t>
            </a:r>
          </a:p>
          <a:p>
            <a:pPr lvl="2"/>
            <a:r>
              <a:rPr lang="en-US" altLang="ko-KR" dirty="0"/>
              <a:t>tar</a:t>
            </a:r>
            <a:r>
              <a:rPr lang="ko-KR" altLang="en-US" dirty="0"/>
              <a:t>의 사용 방법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tar</a:t>
            </a:r>
            <a:r>
              <a:rPr lang="ko-KR" altLang="en-US" dirty="0"/>
              <a:t>에서 사용하는 중요 옵션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6</a:t>
            </a:fld>
            <a:endParaRPr lang="en-US" altLang="ko-KR"/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1547664" y="2996952"/>
            <a:ext cx="4824536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tar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만들 파일이름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묶을 파일이름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149080"/>
            <a:ext cx="5065728" cy="141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55940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파일의 압축 및 백업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980728"/>
            <a:ext cx="8928992" cy="5105400"/>
          </a:xfrm>
        </p:spPr>
        <p:txBody>
          <a:bodyPr/>
          <a:lstStyle/>
          <a:p>
            <a:pPr lvl="1"/>
            <a:r>
              <a:rPr lang="en-US" altLang="ko-KR" dirty="0"/>
              <a:t>tar </a:t>
            </a:r>
            <a:r>
              <a:rPr lang="ko-KR" altLang="en-US" dirty="0"/>
              <a:t>사용법</a:t>
            </a:r>
            <a:r>
              <a:rPr lang="en-US" altLang="ko-KR" dirty="0"/>
              <a:t>: </a:t>
            </a:r>
            <a:r>
              <a:rPr lang="ko-KR" altLang="en-US" dirty="0"/>
              <a:t>파일을 묶을 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사용 예</a:t>
            </a:r>
            <a:endParaRPr lang="en-US" altLang="ko-KR" dirty="0"/>
          </a:p>
          <a:p>
            <a:pPr lvl="2"/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sample_dir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서브디렉토리를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test_dir.tar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파일로 묶음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altLang="ko-KR" dirty="0">
                <a:solidFill>
                  <a:srgbClr val="FF0000"/>
                </a:solidFill>
              </a:rPr>
              <a:t>tar  </a:t>
            </a:r>
            <a:r>
              <a:rPr lang="en-US" altLang="ko-KR" dirty="0" err="1">
                <a:solidFill>
                  <a:srgbClr val="FF0000"/>
                </a:solidFill>
              </a:rPr>
              <a:t>cvf</a:t>
            </a:r>
            <a:r>
              <a:rPr lang="en-US" altLang="ko-KR" dirty="0">
                <a:solidFill>
                  <a:srgbClr val="FF0000"/>
                </a:solidFill>
              </a:rPr>
              <a:t>  test_dir.tar  </a:t>
            </a:r>
            <a:r>
              <a:rPr lang="en-US" altLang="ko-KR" dirty="0" err="1">
                <a:solidFill>
                  <a:srgbClr val="FF0000"/>
                </a:solidFill>
              </a:rPr>
              <a:t>sample_dir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187624" y="1484784"/>
            <a:ext cx="5616624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tar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cvf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만들 파일이름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.tar]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묶을 파일이름 또는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디렉토리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25" y="3212976"/>
            <a:ext cx="6319165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6574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파일의 압축 및 백업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980728"/>
            <a:ext cx="8928992" cy="5105400"/>
          </a:xfrm>
        </p:spPr>
        <p:txBody>
          <a:bodyPr/>
          <a:lstStyle/>
          <a:p>
            <a:pPr lvl="1"/>
            <a:r>
              <a:rPr lang="en-US" altLang="ko-KR" dirty="0"/>
              <a:t>tar </a:t>
            </a:r>
            <a:r>
              <a:rPr lang="ko-KR" altLang="en-US" dirty="0"/>
              <a:t>사용법</a:t>
            </a:r>
            <a:r>
              <a:rPr lang="en-US" altLang="ko-KR" dirty="0"/>
              <a:t>: </a:t>
            </a:r>
            <a:r>
              <a:rPr lang="ko-KR" altLang="en-US" dirty="0"/>
              <a:t>묶여 있는 파일을 </a:t>
            </a:r>
            <a:r>
              <a:rPr lang="ko-KR" altLang="en-US" dirty="0" err="1"/>
              <a:t>풀때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사용 예</a:t>
            </a:r>
            <a:endParaRPr lang="en-US" altLang="ko-KR" dirty="0"/>
          </a:p>
          <a:p>
            <a:pPr lvl="2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앞 예제에서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tar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로 묶은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files.tar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원상태로 다시 풀고자 할 때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tar  </a:t>
            </a:r>
            <a:r>
              <a:rPr lang="en-US" altLang="ko-KR" dirty="0" err="1">
                <a:solidFill>
                  <a:srgbClr val="FF0000"/>
                </a:solidFill>
              </a:rPr>
              <a:t>xvf</a:t>
            </a:r>
            <a:r>
              <a:rPr lang="en-US" altLang="ko-KR" dirty="0">
                <a:solidFill>
                  <a:srgbClr val="FF0000"/>
                </a:solidFill>
              </a:rPr>
              <a:t>  files.tar</a:t>
            </a: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2"/>
            <a:endParaRPr lang="en-US" altLang="ko-KR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8</a:t>
            </a:fld>
            <a:endParaRPr lang="en-US" altLang="ko-KR"/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1331640" y="1526682"/>
            <a:ext cx="4608512" cy="360040"/>
          </a:xfrm>
          <a:prstGeom prst="roundRect">
            <a:avLst>
              <a:gd name="adj" fmla="val 24053"/>
            </a:avLst>
          </a:prstGeom>
          <a:solidFill>
            <a:schemeClr val="bg1"/>
          </a:solidFill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 tar  </a:t>
            </a:r>
            <a:r>
              <a:rPr lang="en-US" altLang="ko-K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xvf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[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묶여 있는 파일이름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.tar]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72" y="3158821"/>
            <a:ext cx="5367444" cy="168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3001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파일의 압축 및 백업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파일의 압축 묶음</a:t>
            </a:r>
          </a:p>
          <a:p>
            <a:pPr lvl="1"/>
            <a:r>
              <a:rPr lang="en-US" altLang="ko-KR" dirty="0"/>
              <a:t>tar</a:t>
            </a:r>
            <a:r>
              <a:rPr lang="ko-KR" altLang="en-US" dirty="0"/>
              <a:t>와 압축 혼합 사용법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옵션에 </a:t>
            </a:r>
            <a:r>
              <a:rPr lang="en-US" altLang="ko-KR" dirty="0"/>
              <a:t>`z’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2"/>
            <a:r>
              <a:rPr lang="ko-KR" altLang="en-US" dirty="0"/>
              <a:t>파일명 및 </a:t>
            </a:r>
            <a:r>
              <a:rPr lang="ko-KR" altLang="en-US" dirty="0" err="1"/>
              <a:t>확장자를</a:t>
            </a:r>
            <a:r>
              <a:rPr lang="ko-KR" altLang="en-US" dirty="0"/>
              <a:t> 사용자가 직접 입력해야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사용 예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현재 </a:t>
            </a:r>
            <a:r>
              <a:rPr lang="ko-KR" altLang="en-US" dirty="0" err="1"/>
              <a:t>디렉토리에</a:t>
            </a:r>
            <a:r>
              <a:rPr lang="ko-KR" altLang="en-US" dirty="0"/>
              <a:t> 있는 모든 파일을 하나의 파일 형태로 묶고</a:t>
            </a:r>
            <a:r>
              <a:rPr lang="en-US" altLang="ko-KR" dirty="0"/>
              <a:t>, </a:t>
            </a:r>
            <a:r>
              <a:rPr lang="ko-KR" altLang="en-US" dirty="0"/>
              <a:t>파일 크기를 줄이려고 압축</a:t>
            </a:r>
            <a:r>
              <a:rPr lang="en-US" altLang="ko-KR" dirty="0"/>
              <a:t>:  </a:t>
            </a:r>
            <a:r>
              <a:rPr lang="en-US" altLang="ko-KR" dirty="0">
                <a:solidFill>
                  <a:srgbClr val="FF0000"/>
                </a:solidFill>
              </a:rPr>
              <a:t>tar  </a:t>
            </a:r>
            <a:r>
              <a:rPr lang="en-US" altLang="ko-KR" dirty="0" err="1">
                <a:solidFill>
                  <a:srgbClr val="FF0000"/>
                </a:solidFill>
              </a:rPr>
              <a:t>cvfz</a:t>
            </a:r>
            <a:r>
              <a:rPr lang="en-US" altLang="ko-KR" dirty="0">
                <a:solidFill>
                  <a:srgbClr val="FF0000"/>
                </a:solidFill>
              </a:rPr>
              <a:t>   test_gzip.tar.gz   *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6718-9871-48D1-8615-539A36B7E64B}" type="slidenum">
              <a:rPr lang="en-US" altLang="ko-KR" smtClean="0"/>
              <a:pPr/>
              <a:t>9</a:t>
            </a:fld>
            <a:endParaRPr lang="en-US" altLang="ko-KR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66" y="4149080"/>
            <a:ext cx="6367188" cy="226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4524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 </a:t>
            </a:r>
            <a:r>
              <a:rPr lang="en-US" altLang="ko-KR" dirty="0"/>
              <a:t>(1)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810600" y="6597352"/>
            <a:ext cx="333400" cy="144016"/>
          </a:xfrm>
        </p:spPr>
        <p:txBody>
          <a:bodyPr/>
          <a:lstStyle/>
          <a:p>
            <a:fld id="{65466718-9871-48D1-8615-539A36B7E64B}" type="slidenum">
              <a:rPr lang="en-US" altLang="ko-KR" smtClean="0"/>
              <a:pPr/>
              <a:t>10</a:t>
            </a:fld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251520" y="970948"/>
            <a:ext cx="87484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사용자 계정 홈 디렉토리 안에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test1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서브디렉토리를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생성하시오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이미 존재하면 무시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).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  서브디렉토리를 사용자 자신은 읽기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쓰기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실행 모두를 허가하고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그룹 및 기타 사용자는 읽기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쓰기 권한만을 주려고 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 test1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서브디렉토리를 </a:t>
            </a:r>
            <a:r>
              <a:rPr lang="ko-KR" altLang="en-US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절대경로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 표기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기호 모드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사용법을 이용하여 디렉토리의 권한을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변경하시오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–l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명령어로 실행 결과를 확인하고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사용자 계정 홈 디렉토리 안에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test2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서브디렉토리를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생성하시오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이미 존재하면 무시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). 1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번과 동일하게 이 서브디렉토리를 사용자 자신은 읽기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쓰기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실행 모두를 허가하고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그룹 및 기타 사용자는 읽기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쓰기 권한만을 주려고 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test2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서브디렉토리는 </a:t>
            </a:r>
            <a:r>
              <a:rPr lang="ko-KR" altLang="en-US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상대경로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 표기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 u="sng" dirty="0">
                <a:latin typeface="굴림" panose="020B0600000101010101" pitchFamily="50" charset="-127"/>
                <a:ea typeface="굴림" panose="020B0600000101010101" pitchFamily="50" charset="-127"/>
              </a:rPr>
              <a:t>8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진수 모드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사용법을 이용하여 디렉토리의 권한을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변경하시오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–l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명령어로 실행 결과를 확인하고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/home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디렉토리를 사용자 자신만 읽기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쓰기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실행의 모든 권한을 허가하고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그룹 및 기타 사용자는 아무런 권한을 허용하지 않도록 변경한다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 실행 결과에서 에러가 발생하면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에러가 발생하는 원인을 설명하시오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2439764"/>
      </p:ext>
    </p:extLst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 </a:t>
            </a:r>
            <a:r>
              <a:rPr lang="en-US" altLang="ko-KR" dirty="0"/>
              <a:t>(2)</a:t>
            </a:r>
            <a:r>
              <a:rPr lang="ko-KR" altLang="en-US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19" y="980728"/>
            <a:ext cx="87484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tar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명령어를 사용하여 사용자 계정 홈 디렉토리의 모든 파일을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압축을 하지 않고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20110901.tar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이름으로 묶어 저장하시오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backup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서브디렉토리를 만들고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20110901.tar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backup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서브디렉토리로 이동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시키시오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마지막으로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backup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tar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압축되지 않은 묶음을 해제하고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해제된 결과를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확인하고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tar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명령어를 사용하여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backup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디렉토리의 모든 파일을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압축을 해서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20110902.tar.gz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라는 이름으로 묶어 저장하시오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backup2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이라는 서브디렉토리를 만들고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20110902.tar.gz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backup2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디렉토리로 이동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시키시오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마지막으로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backup2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tar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압축된 묶음을 해제하고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해제된 결과를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ls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확인하고 결과 이미지를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캡쳐하여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제출하시오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818270" y="6611779"/>
            <a:ext cx="325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65466718-9871-48D1-8615-539A36B7E64B}" type="slidenum">
              <a:rPr lang="en-US" altLang="ko-KR" sz="1000"/>
              <a:pPr/>
              <a:t>11</a:t>
            </a:fld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59465102"/>
      </p:ext>
    </p:extLst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과제 </a:t>
            </a:r>
            <a:r>
              <a:rPr lang="en-US" altLang="ko-KR" dirty="0"/>
              <a:t>(3)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선택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19" y="980728"/>
            <a:ext cx="87484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su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명령어는 사용자를 관리자 계정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(root)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으로 전환하는 명령어이다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관리자 계정 패스워드 입력 요구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).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현재 창에서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su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명령어를 사용하여 관리자 계정으로 전환한다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새로운 터미널 창을 생성하면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신규 창은 기존 일반 사용자 계정으로 동작한다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기존 창에서 관리자 계정으로 전환한 이후에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/home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디렉토리를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기타 사용자에게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읽기</a:t>
            </a:r>
            <a:r>
              <a:rPr lang="en-US" altLang="ko-KR" u="sng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쓰기 권한을 허가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하고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실행 권한을 허용하지 않도록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변경한다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신규 창에서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“ls  –l  /home”, “vi  /home/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aaa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”, “cd  /home”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명령들을 수행해본다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기존 창에서 관리자 계정으로 전환한 이후에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/home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디렉토리를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기타 사용자에게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읽기</a:t>
            </a:r>
            <a:r>
              <a:rPr lang="en-US" altLang="ko-KR" u="sng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실행 권한을 허가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하고 </a:t>
            </a:r>
            <a:r>
              <a:rPr lang="ko-KR" altLang="en-US" u="sng" dirty="0">
                <a:latin typeface="굴림" panose="020B0600000101010101" pitchFamily="50" charset="-127"/>
                <a:ea typeface="굴림" panose="020B0600000101010101" pitchFamily="50" charset="-127"/>
              </a:rPr>
              <a:t>쓰기 권한을 허용하지 않도록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변경한다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그리고 신규 창에서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“ls  –l  /home”, “vi  /home/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aaa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”, “cd  /home”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명령들을 수행해본다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/home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디렉토리를 기타 사용자에게 읽기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실행 권한을 허용하도록 복구하지 않으면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재부팅시에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오류 발생하므로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반드시 권한을 초기 상태로 복구한다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818270" y="6611779"/>
            <a:ext cx="325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65466718-9871-48D1-8615-539A36B7E64B}" type="slidenum">
              <a:rPr lang="en-US" altLang="ko-KR" sz="1000"/>
              <a:pPr/>
              <a:t>12</a:t>
            </a:fld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27527417"/>
      </p:ext>
    </p:extLst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2933</TotalTime>
  <Words>997</Words>
  <Application>Microsoft Office PowerPoint</Application>
  <PresentationFormat>화면 슬라이드 쇼(4:3)</PresentationFormat>
  <Paragraphs>115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굴림</vt:lpstr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techtropolis</vt:lpstr>
      <vt:lpstr>PowerPoint 프레젠테이션</vt:lpstr>
      <vt:lpstr>파일 및 디렉토리 관리</vt:lpstr>
      <vt:lpstr>파일 및 디렉토리 관리</vt:lpstr>
      <vt:lpstr>파일 및 디렉토리 관리</vt:lpstr>
      <vt:lpstr>파일 및 디렉토리 관리</vt:lpstr>
      <vt:lpstr>파일의 묶음</vt:lpstr>
      <vt:lpstr>파일의 압축 및 백업</vt:lpstr>
      <vt:lpstr>파일의 압축 및 백업</vt:lpstr>
      <vt:lpstr>파일의 압축 및 백업</vt:lpstr>
      <vt:lpstr>실습 과제 (1) </vt:lpstr>
      <vt:lpstr>실습 과제 (2) </vt:lpstr>
      <vt:lpstr>실습 과제 (3) – 선택 과제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245</cp:revision>
  <dcterms:created xsi:type="dcterms:W3CDTF">2011-06-15T00:21:10Z</dcterms:created>
  <dcterms:modified xsi:type="dcterms:W3CDTF">2023-11-03T03:12:42Z</dcterms:modified>
</cp:coreProperties>
</file>