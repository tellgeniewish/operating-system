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65" r:id="rId4"/>
    <p:sldId id="266" r:id="rId5"/>
    <p:sldId id="267" r:id="rId6"/>
    <p:sldId id="258" r:id="rId7"/>
    <p:sldId id="259" r:id="rId8"/>
    <p:sldId id="264" r:id="rId9"/>
    <p:sldId id="261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51" autoAdjust="0"/>
    <p:restoredTop sz="94630" autoAdjust="0"/>
  </p:normalViewPr>
  <p:slideViewPr>
    <p:cSldViewPr>
      <p:cViewPr varScale="1">
        <p:scale>
          <a:sx n="109" d="100"/>
          <a:sy n="109" d="100"/>
        </p:scale>
        <p:origin x="63" y="10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96" y="366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465253-F894-4766-A7B5-C4D0424424AC}" type="datetimeFigureOut">
              <a:rPr lang="ko-KR" altLang="en-US" smtClean="0"/>
              <a:t>2023-11-23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A1A73-968F-4445-8E1D-DDF699978D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254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362200"/>
            <a:ext cx="9144000" cy="552450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 smtClean="0"/>
              <a:t>마스터 제목 스타일 편집</a:t>
            </a:r>
            <a:endParaRPr lang="en-US" altLang="ko-KR" noProof="0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2895600"/>
            <a:ext cx="9144000" cy="381000"/>
          </a:xfrm>
          <a:prstGeom prst="rect">
            <a:avLst/>
          </a:prstGeom>
        </p:spPr>
        <p:txBody>
          <a:bodyPr/>
          <a:lstStyle>
            <a:lvl1pPr marL="0" indent="0" algn="ctr"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ko-KR" altLang="en-US" noProof="0" dirty="0" smtClean="0"/>
              <a:t>마스터 부제목 스타일 편집</a:t>
            </a:r>
            <a:endParaRPr lang="en-US" altLang="ko-KR" noProof="0" dirty="0" smtClean="0"/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0" y="6613525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 dirty="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613525"/>
            <a:ext cx="2895600" cy="168275"/>
          </a:xfrm>
          <a:prstGeom prst="rect">
            <a:avLst/>
          </a:prstGeo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endParaRPr lang="en-US" altLang="ko-KR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010400" y="6613525"/>
            <a:ext cx="2133600" cy="168275"/>
          </a:xfrm>
        </p:spPr>
        <p:txBody>
          <a:bodyPr/>
          <a:lstStyle>
            <a:lvl1pPr>
              <a:defRPr b="0">
                <a:latin typeface="Arial Black" pitchFamily="34" charset="0"/>
              </a:defRPr>
            </a:lvl1pPr>
          </a:lstStyle>
          <a:p>
            <a:fld id="{F4CA1244-127F-4AE9-B94C-FCD20DDA4623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Ovr>
    <a:masterClrMapping/>
  </p:clrMapOvr>
  <p:transition spd="med"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l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Ø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fld id="{65466718-9871-48D1-8615-539A36B7E64B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27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8FBE4B-1CD3-4F44-B421-630D227FF9A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4997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4B6D06-1EBA-4343-AD33-80195609C58B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l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Ø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0731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auto">
          <a:xfrm>
            <a:off x="0" y="764704"/>
            <a:ext cx="9144000" cy="57606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EE8637-ED61-44AA-8D92-B072D1C9D1BE}" type="slidenum">
              <a:rPr lang="ko-KR" altLang="en-US"/>
              <a:pPr/>
              <a:t>‹#›</a:t>
            </a:fld>
            <a:endParaRPr lang="en-US" altLang="ko-KR"/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228600" y="990600"/>
            <a:ext cx="8663880" cy="51054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SzPct val="100000"/>
              <a:buFontTx/>
              <a:buBlip>
                <a:blip r:embed="rId2"/>
              </a:buBlip>
              <a:defRPr>
                <a:solidFill>
                  <a:srgbClr val="006600"/>
                </a:solidFill>
                <a:latin typeface="나눔고딕 ExtraBold" pitchFamily="50" charset="-127"/>
                <a:ea typeface="나눔고딕 ExtraBold" pitchFamily="50" charset="-127"/>
              </a:defRPr>
            </a:lvl1pPr>
            <a:lvl2pPr>
              <a:lnSpc>
                <a:spcPct val="150000"/>
              </a:lnSpc>
              <a:buSzPct val="100000"/>
              <a:buFontTx/>
              <a:buBlip>
                <a:blip r:embed="rId3"/>
              </a:buBlip>
              <a:defRPr sz="1600" b="1">
                <a:solidFill>
                  <a:schemeClr val="tx1">
                    <a:lumMod val="65000"/>
                    <a:lumOff val="3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2pPr>
            <a:lvl3pPr marL="1200150" indent="-28575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l"/>
              <a:defRPr sz="14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3pPr>
            <a:lvl4pPr marL="1600200" indent="-228600"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Wingdings" panose="05000000000000000000" pitchFamily="2" charset="2"/>
              <a:buChar char="Ø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4pPr>
            <a:lvl5pPr>
              <a:lnSpc>
                <a:spcPct val="150000"/>
              </a:lnSpc>
              <a:buClr>
                <a:schemeClr val="bg2">
                  <a:lumMod val="75000"/>
                </a:schemeClr>
              </a:buClr>
              <a:buSzPct val="50000"/>
              <a:buFont typeface="나눔고딕" pitchFamily="50" charset="-127"/>
              <a:buChar char="→"/>
              <a:defRPr sz="1200">
                <a:solidFill>
                  <a:schemeClr val="bg2">
                    <a:lumMod val="75000"/>
                  </a:schemeClr>
                </a:solidFill>
                <a:latin typeface="나눔고딕" pitchFamily="50" charset="-127"/>
                <a:ea typeface="나눔고딕" pitchFamily="50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73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en-US" altLang="ko-KR" smtClean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581775"/>
            <a:ext cx="21336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solidFill>
                  <a:schemeClr val="tx1"/>
                </a:solidFill>
                <a:latin typeface="+mn-lt"/>
                <a:ea typeface="굴림" charset="-127"/>
              </a:defRPr>
            </a:lvl1pPr>
          </a:lstStyle>
          <a:p>
            <a:fld id="{8852A43B-D703-4961-BED6-7872C571D2FD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</p:sldLayoutIdLst>
  <p:transition spd="med">
    <p:fade thruBlk="1"/>
  </p:transition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Franklin Gothic Medium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200000"/>
        <a:defRPr>
          <a:solidFill>
            <a:schemeClr val="tx1"/>
          </a:solidFill>
          <a:latin typeface="+mn-lt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600">
          <a:solidFill>
            <a:schemeClr val="tx1"/>
          </a:solidFill>
          <a:latin typeface="+mn-lt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SzPct val="200000"/>
        <a:defRPr sz="14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96144" y="3284984"/>
            <a:ext cx="6551712" cy="72008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ko-KR" altLang="en-US" sz="4800" b="1" smtClean="0">
                <a:latin typeface="나눔고딕 ExtraBold" pitchFamily="50" charset="-127"/>
                <a:ea typeface="나눔고딕 ExtraBold" pitchFamily="50" charset="-127"/>
              </a:rPr>
              <a:t>소켓 통신 프로그램 </a:t>
            </a:r>
            <a:endParaRPr lang="en-US" altLang="ko-KR" sz="4800" b="1" dirty="0"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31640" y="1916832"/>
            <a:ext cx="6480720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6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SzPct val="200000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</a:pPr>
            <a:r>
              <a:rPr lang="ko-KR" altLang="en-US" sz="4000" b="1" kern="0" dirty="0" smtClean="0">
                <a:latin typeface="나눔고딕 ExtraBold" pitchFamily="50" charset="-127"/>
                <a:ea typeface="나눔고딕 ExtraBold" pitchFamily="50" charset="-127"/>
              </a:rPr>
              <a:t>실습 </a:t>
            </a:r>
            <a:r>
              <a:rPr lang="en-US" altLang="ko-KR" sz="4000" b="1" kern="0" dirty="0" smtClean="0">
                <a:latin typeface="나눔고딕 ExtraBold" pitchFamily="50" charset="-127"/>
                <a:ea typeface="나눔고딕 ExtraBold" pitchFamily="50" charset="-127"/>
              </a:rPr>
              <a:t>11</a:t>
            </a:r>
            <a:endParaRPr lang="en-US" altLang="ko-KR" sz="4000" b="1" kern="0" dirty="0"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DE7F25F9-54B9-4144-8B5E-BE070FA47061}" type="slidenum">
              <a:rPr lang="ko-KR" altLang="en-US" sz="1200">
                <a:latin typeface="Times New Roman" panose="02020603050405020304" pitchFamily="18" charset="0"/>
              </a:rPr>
              <a:pPr/>
              <a:t>2</a:t>
            </a:fld>
            <a:endParaRPr lang="en-US" altLang="ko-KR" sz="1200">
              <a:latin typeface="Times New Roman" panose="02020603050405020304" pitchFamily="18" charset="0"/>
            </a:endParaRP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366713" y="-38099"/>
            <a:ext cx="7772400" cy="857250"/>
          </a:xfrm>
        </p:spPr>
        <p:txBody>
          <a:bodyPr/>
          <a:lstStyle/>
          <a:p>
            <a:r>
              <a:rPr lang="ko-KR" altLang="en-US" sz="40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소켓</a:t>
            </a:r>
            <a:r>
              <a:rPr lang="en-US" altLang="ko-KR" sz="40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40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개요</a:t>
            </a:r>
            <a:endParaRPr lang="en-US" altLang="ko-KR" sz="40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6075" y="984251"/>
            <a:ext cx="8613775" cy="245859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buSzPct val="100000"/>
              <a:buFont typeface="Wingdings" panose="05000000000000000000" pitchFamily="2" charset="2"/>
              <a:buChar char="v"/>
            </a:pPr>
            <a:r>
              <a:rPr lang="ko-KR" altLang="en-US" sz="2400" dirty="0" smtClean="0">
                <a:ea typeface="굴림" panose="020B0600000101010101" pitchFamily="50" charset="-127"/>
              </a:rPr>
              <a:t>소켓</a:t>
            </a:r>
            <a:r>
              <a:rPr lang="en-US" altLang="ko-KR" sz="2400" dirty="0" smtClean="0">
                <a:ea typeface="굴림" panose="020B0600000101010101" pitchFamily="50" charset="-127"/>
              </a:rPr>
              <a:t>(socket)</a:t>
            </a:r>
          </a:p>
          <a:p>
            <a:pPr marL="800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 smtClean="0">
                <a:ea typeface="굴림" panose="020B0600000101010101" pitchFamily="50" charset="-127"/>
              </a:rPr>
              <a:t>애플리케이션에 의해서 생성</a:t>
            </a:r>
            <a:r>
              <a:rPr lang="en-US" altLang="ko-KR" dirty="0" smtClean="0">
                <a:ea typeface="굴림" panose="020B0600000101010101" pitchFamily="50" charset="-127"/>
              </a:rPr>
              <a:t>/</a:t>
            </a:r>
            <a:r>
              <a:rPr lang="ko-KR" altLang="en-US" dirty="0" smtClean="0">
                <a:ea typeface="굴림" panose="020B0600000101010101" pitchFamily="50" charset="-127"/>
              </a:rPr>
              <a:t>사용</a:t>
            </a:r>
            <a:r>
              <a:rPr lang="en-US" altLang="ko-KR" dirty="0" smtClean="0">
                <a:ea typeface="굴림" panose="020B0600000101010101" pitchFamily="50" charset="-127"/>
              </a:rPr>
              <a:t>/</a:t>
            </a:r>
            <a:r>
              <a:rPr lang="ko-KR" altLang="en-US" dirty="0" smtClean="0">
                <a:ea typeface="굴림" panose="020B0600000101010101" pitchFamily="50" charset="-127"/>
              </a:rPr>
              <a:t>제거, 운영체제에 의해서 관리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r>
              <a:rPr lang="ko-KR" altLang="en-US" dirty="0" smtClean="0">
                <a:ea typeface="굴림" panose="020B0600000101010101" pitchFamily="50" charset="-127"/>
              </a:rPr>
              <a:t>클라이언트</a:t>
            </a:r>
            <a:r>
              <a:rPr lang="en-US" altLang="ko-KR" dirty="0" smtClean="0">
                <a:ea typeface="굴림" panose="020B0600000101010101" pitchFamily="50" charset="-127"/>
              </a:rPr>
              <a:t>/</a:t>
            </a:r>
            <a:r>
              <a:rPr lang="ko-KR" altLang="en-US" smtClean="0">
                <a:ea typeface="굴림" panose="020B0600000101010101" pitchFamily="50" charset="-127"/>
              </a:rPr>
              <a:t>서버 프로그램 통신에 사용</a:t>
            </a:r>
            <a:endParaRPr lang="en-US" altLang="ko-KR" dirty="0" smtClean="0">
              <a:ea typeface="굴림" panose="020B0600000101010101" pitchFamily="50" charset="-127"/>
            </a:endParaRPr>
          </a:p>
          <a:p>
            <a:pPr marL="800100" lvl="1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§"/>
            </a:pPr>
            <a:endParaRPr lang="en-US" altLang="ko-KR" sz="1200" dirty="0" smtClean="0">
              <a:solidFill>
                <a:srgbClr val="FF0000"/>
              </a:solidFill>
              <a:ea typeface="굴림" panose="020B0600000101010101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661465" y="3771462"/>
            <a:ext cx="8035106" cy="2200275"/>
            <a:chOff x="622869" y="4460875"/>
            <a:chExt cx="8035106" cy="2200275"/>
          </a:xfrm>
        </p:grpSpPr>
        <p:graphicFrame>
          <p:nvGraphicFramePr>
            <p:cNvPr id="205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97370891"/>
                </p:ext>
              </p:extLst>
            </p:nvPr>
          </p:nvGraphicFramePr>
          <p:xfrm>
            <a:off x="2230438" y="4460875"/>
            <a:ext cx="1123950" cy="892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0" name="Clip" r:id="rId3" imgW="1307263" imgH="1084139" progId="MS_ClipArt_Gallery.2">
                    <p:embed/>
                  </p:oleObj>
                </mc:Choice>
                <mc:Fallback>
                  <p:oleObj name="Clip" r:id="rId3" imgW="1307263" imgH="1084139" progId="MS_ClipArt_Gallery.2">
                    <p:embed/>
                    <p:pic>
                      <p:nvPicPr>
                        <p:cNvPr id="205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30438" y="4460875"/>
                          <a:ext cx="1123950" cy="892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54" name="Group 5"/>
            <p:cNvGrpSpPr>
              <a:grpSpLocks/>
            </p:cNvGrpSpPr>
            <p:nvPr/>
          </p:nvGrpSpPr>
          <p:grpSpPr bwMode="auto">
            <a:xfrm>
              <a:off x="2319338" y="4832350"/>
              <a:ext cx="1028700" cy="1554163"/>
              <a:chOff x="678" y="2279"/>
              <a:chExt cx="648" cy="979"/>
            </a:xfrm>
          </p:grpSpPr>
          <p:sp>
            <p:nvSpPr>
              <p:cNvPr id="2076" name="Rectangle 6"/>
              <p:cNvSpPr>
                <a:spLocks noChangeArrowheads="1"/>
              </p:cNvSpPr>
              <p:nvPr/>
            </p:nvSpPr>
            <p:spPr bwMode="auto">
              <a:xfrm>
                <a:off x="678" y="2280"/>
                <a:ext cx="642" cy="28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endParaRPr lang="ko-KR" altLang="en-US" sz="1800">
                  <a:solidFill>
                    <a:schemeClr val="bg1"/>
                  </a:solidFill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077" name="Text Box 7"/>
              <p:cNvSpPr txBox="1">
                <a:spLocks noChangeArrowheads="1"/>
              </p:cNvSpPr>
              <p:nvPr/>
            </p:nvSpPr>
            <p:spPr bwMode="auto">
              <a:xfrm>
                <a:off x="749" y="2279"/>
                <a:ext cx="52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en-US" altLang="ko-KR" sz="1400">
                    <a:ea typeface="굴림" panose="020B0600000101010101" pitchFamily="50" charset="-127"/>
                  </a:rPr>
                  <a:t>process</a:t>
                </a:r>
                <a:endParaRPr lang="en-US" altLang="ko-KR" sz="1400"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grpSp>
            <p:nvGrpSpPr>
              <p:cNvPr id="2078" name="Group 8"/>
              <p:cNvGrpSpPr>
                <a:grpSpLocks/>
              </p:cNvGrpSpPr>
              <p:nvPr/>
            </p:nvGrpSpPr>
            <p:grpSpPr bwMode="auto">
              <a:xfrm>
                <a:off x="684" y="2628"/>
                <a:ext cx="642" cy="630"/>
                <a:chOff x="672" y="2610"/>
                <a:chExt cx="642" cy="630"/>
              </a:xfrm>
            </p:grpSpPr>
            <p:sp>
              <p:nvSpPr>
                <p:cNvPr id="208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702" y="2714"/>
                  <a:ext cx="587" cy="4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/>
                  <a:r>
                    <a:rPr lang="en-US" altLang="ko-KR" sz="1400">
                      <a:ea typeface="굴림" panose="020B0600000101010101" pitchFamily="50" charset="-127"/>
                    </a:rPr>
                    <a:t>TCP with</a:t>
                  </a:r>
                </a:p>
                <a:p>
                  <a:pPr algn="ctr"/>
                  <a:r>
                    <a:rPr lang="en-US" altLang="ko-KR" sz="1400">
                      <a:ea typeface="굴림" panose="020B0600000101010101" pitchFamily="50" charset="-127"/>
                    </a:rPr>
                    <a:t>buffers,</a:t>
                  </a:r>
                </a:p>
                <a:p>
                  <a:pPr algn="ctr"/>
                  <a:r>
                    <a:rPr lang="en-US" altLang="ko-KR" sz="1400">
                      <a:ea typeface="굴림" panose="020B0600000101010101" pitchFamily="50" charset="-127"/>
                    </a:rPr>
                    <a:t>variables</a:t>
                  </a:r>
                  <a:endParaRPr lang="en-US" altLang="ko-KR" sz="1400">
                    <a:latin typeface="Times New Roman" panose="02020603050405020304" pitchFamily="18" charset="0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083" name="Rectangle 10"/>
                <p:cNvSpPr>
                  <a:spLocks noChangeArrowheads="1"/>
                </p:cNvSpPr>
                <p:nvPr/>
              </p:nvSpPr>
              <p:spPr bwMode="auto">
                <a:xfrm>
                  <a:off x="672" y="2610"/>
                  <a:ext cx="642" cy="63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endParaRPr lang="ko-KR" altLang="en-US" sz="1800">
                    <a:ea typeface="굴림" panose="020B0600000101010101" pitchFamily="50" charset="-127"/>
                  </a:endParaRPr>
                </a:p>
              </p:txBody>
            </p:sp>
          </p:grpSp>
          <p:grpSp>
            <p:nvGrpSpPr>
              <p:cNvPr id="2079" name="Group 11"/>
              <p:cNvGrpSpPr>
                <a:grpSpLocks/>
              </p:cNvGrpSpPr>
              <p:nvPr/>
            </p:nvGrpSpPr>
            <p:grpSpPr bwMode="auto">
              <a:xfrm>
                <a:off x="768" y="2519"/>
                <a:ext cx="492" cy="194"/>
                <a:chOff x="924" y="3755"/>
                <a:chExt cx="492" cy="194"/>
              </a:xfrm>
            </p:grpSpPr>
            <p:sp>
              <p:nvSpPr>
                <p:cNvPr id="2080" name="Rectangle 12"/>
                <p:cNvSpPr>
                  <a:spLocks noChangeArrowheads="1"/>
                </p:cNvSpPr>
                <p:nvPr/>
              </p:nvSpPr>
              <p:spPr bwMode="auto">
                <a:xfrm>
                  <a:off x="924" y="3774"/>
                  <a:ext cx="492" cy="1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endParaRPr lang="ko-KR" altLang="en-US" sz="1800"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081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944" y="3755"/>
                  <a:ext cx="466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/>
                  <a:r>
                    <a:rPr lang="en-US" altLang="ko-KR" sz="1400">
                      <a:solidFill>
                        <a:schemeClr val="bg1"/>
                      </a:solidFill>
                      <a:ea typeface="굴림" panose="020B0600000101010101" pitchFamily="50" charset="-127"/>
                    </a:rPr>
                    <a:t>socket</a:t>
                  </a:r>
                  <a:endParaRPr lang="en-US" altLang="ko-KR" sz="1800">
                    <a:latin typeface="Times New Roman" panose="02020603050405020304" pitchFamily="18" charset="0"/>
                    <a:ea typeface="굴림" panose="020B0600000101010101" pitchFamily="50" charset="-127"/>
                  </a:endParaRPr>
                </a:p>
              </p:txBody>
            </p:sp>
          </p:grpSp>
        </p:grpSp>
        <p:sp>
          <p:nvSpPr>
            <p:cNvPr id="2055" name="Text Box 14"/>
            <p:cNvSpPr txBox="1">
              <a:spLocks noChangeArrowheads="1"/>
            </p:cNvSpPr>
            <p:nvPr/>
          </p:nvSpPr>
          <p:spPr bwMode="auto">
            <a:xfrm>
              <a:off x="622869" y="4820634"/>
              <a:ext cx="149431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r"/>
              <a:r>
                <a:rPr lang="ko-KR" altLang="en-US" sz="1400" dirty="0" smtClean="0">
                  <a:ea typeface="굴림" panose="020B0600000101010101" pitchFamily="50" charset="-127"/>
                </a:rPr>
                <a:t>프로그램 개발자</a:t>
              </a:r>
              <a:endParaRPr lang="en-US" altLang="ko-KR" sz="1400" dirty="0" smtClean="0"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1400" dirty="0" smtClean="0">
                  <a:latin typeface="Times New Roman" panose="02020603050405020304" pitchFamily="18" charset="0"/>
                  <a:ea typeface="굴림" panose="020B0600000101010101" pitchFamily="50" charset="-127"/>
                </a:rPr>
                <a:t>관리</a:t>
              </a:r>
              <a:endParaRPr lang="en-US" altLang="ko-KR" sz="2000" dirty="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056" name="Text Box 15"/>
            <p:cNvSpPr txBox="1">
              <a:spLocks noChangeArrowheads="1"/>
            </p:cNvSpPr>
            <p:nvPr/>
          </p:nvSpPr>
          <p:spPr bwMode="auto">
            <a:xfrm>
              <a:off x="745792" y="5744468"/>
              <a:ext cx="13147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ko-KR" altLang="en-US" sz="1400" dirty="0" smtClean="0">
                  <a:ea typeface="굴림" panose="020B0600000101010101" pitchFamily="50" charset="-127"/>
                </a:rPr>
                <a:t>운영체제 </a:t>
              </a:r>
              <a:r>
                <a:rPr lang="ko-KR" altLang="en-US" sz="1400" dirty="0" smtClean="0">
                  <a:latin typeface="Times New Roman" panose="02020603050405020304" pitchFamily="18" charset="0"/>
                  <a:ea typeface="굴림" panose="020B0600000101010101" pitchFamily="50" charset="-127"/>
                </a:rPr>
                <a:t>관리</a:t>
              </a:r>
              <a:endParaRPr lang="en-US" altLang="ko-KR" sz="2000" dirty="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057" name="Line 16"/>
            <p:cNvSpPr>
              <a:spLocks noChangeShapeType="1"/>
            </p:cNvSpPr>
            <p:nvPr/>
          </p:nvSpPr>
          <p:spPr bwMode="auto">
            <a:xfrm flipV="1">
              <a:off x="2100263" y="4843463"/>
              <a:ext cx="0" cy="485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58" name="Line 17"/>
            <p:cNvSpPr>
              <a:spLocks noChangeShapeType="1"/>
            </p:cNvSpPr>
            <p:nvPr/>
          </p:nvSpPr>
          <p:spPr bwMode="auto">
            <a:xfrm flipH="1" flipV="1">
              <a:off x="2090738" y="5424488"/>
              <a:ext cx="0" cy="1000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graphicFrame>
          <p:nvGraphicFramePr>
            <p:cNvPr id="2059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7522919"/>
                </p:ext>
              </p:extLst>
            </p:nvPr>
          </p:nvGraphicFramePr>
          <p:xfrm>
            <a:off x="5881688" y="4460875"/>
            <a:ext cx="1123950" cy="892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1" name="Clip" r:id="rId5" imgW="1307263" imgH="1084139" progId="MS_ClipArt_Gallery.2">
                    <p:embed/>
                  </p:oleObj>
                </mc:Choice>
                <mc:Fallback>
                  <p:oleObj name="Clip" r:id="rId5" imgW="1307263" imgH="1084139" progId="MS_ClipArt_Gallery.2">
                    <p:embed/>
                    <p:pic>
                      <p:nvPicPr>
                        <p:cNvPr id="2059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81688" y="4460875"/>
                          <a:ext cx="1123950" cy="892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060" name="Group 20"/>
            <p:cNvGrpSpPr>
              <a:grpSpLocks/>
            </p:cNvGrpSpPr>
            <p:nvPr/>
          </p:nvGrpSpPr>
          <p:grpSpPr bwMode="auto">
            <a:xfrm>
              <a:off x="5970588" y="4832350"/>
              <a:ext cx="1028700" cy="1554163"/>
              <a:chOff x="678" y="2279"/>
              <a:chExt cx="648" cy="979"/>
            </a:xfrm>
          </p:grpSpPr>
          <p:sp>
            <p:nvSpPr>
              <p:cNvPr id="2068" name="Rectangle 21"/>
              <p:cNvSpPr>
                <a:spLocks noChangeArrowheads="1"/>
              </p:cNvSpPr>
              <p:nvPr/>
            </p:nvSpPr>
            <p:spPr bwMode="auto">
              <a:xfrm>
                <a:off x="678" y="2280"/>
                <a:ext cx="642" cy="28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endParaRPr lang="ko-KR" altLang="en-US" sz="1800">
                  <a:solidFill>
                    <a:schemeClr val="bg1"/>
                  </a:solidFill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sp>
            <p:nvSpPr>
              <p:cNvPr id="2069" name="Text Box 22"/>
              <p:cNvSpPr txBox="1">
                <a:spLocks noChangeArrowheads="1"/>
              </p:cNvSpPr>
              <p:nvPr/>
            </p:nvSpPr>
            <p:spPr bwMode="auto">
              <a:xfrm>
                <a:off x="749" y="2279"/>
                <a:ext cx="522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pitchFamily="82" charset="2"/>
                  <a:defRPr sz="2400">
                    <a:solidFill>
                      <a:schemeClr val="tx1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/>
                <a:r>
                  <a:rPr lang="en-US" altLang="ko-KR" sz="1400">
                    <a:ea typeface="굴림" panose="020B0600000101010101" pitchFamily="50" charset="-127"/>
                  </a:rPr>
                  <a:t>process</a:t>
                </a:r>
                <a:endParaRPr lang="en-US" altLang="ko-KR" sz="1400">
                  <a:latin typeface="Times New Roman" panose="02020603050405020304" pitchFamily="18" charset="0"/>
                  <a:ea typeface="굴림" panose="020B0600000101010101" pitchFamily="50" charset="-127"/>
                </a:endParaRPr>
              </a:p>
            </p:txBody>
          </p:sp>
          <p:grpSp>
            <p:nvGrpSpPr>
              <p:cNvPr id="2070" name="Group 23"/>
              <p:cNvGrpSpPr>
                <a:grpSpLocks/>
              </p:cNvGrpSpPr>
              <p:nvPr/>
            </p:nvGrpSpPr>
            <p:grpSpPr bwMode="auto">
              <a:xfrm>
                <a:off x="684" y="2628"/>
                <a:ext cx="642" cy="630"/>
                <a:chOff x="672" y="2610"/>
                <a:chExt cx="642" cy="630"/>
              </a:xfrm>
            </p:grpSpPr>
            <p:sp>
              <p:nvSpPr>
                <p:cNvPr id="2074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702" y="2714"/>
                  <a:ext cx="587" cy="4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/>
                  <a:r>
                    <a:rPr lang="en-US" altLang="ko-KR" sz="1400">
                      <a:ea typeface="굴림" panose="020B0600000101010101" pitchFamily="50" charset="-127"/>
                    </a:rPr>
                    <a:t>TCP with</a:t>
                  </a:r>
                </a:p>
                <a:p>
                  <a:pPr algn="ctr"/>
                  <a:r>
                    <a:rPr lang="en-US" altLang="ko-KR" sz="1400">
                      <a:ea typeface="굴림" panose="020B0600000101010101" pitchFamily="50" charset="-127"/>
                    </a:rPr>
                    <a:t>buffers,</a:t>
                  </a:r>
                </a:p>
                <a:p>
                  <a:pPr algn="ctr"/>
                  <a:r>
                    <a:rPr lang="en-US" altLang="ko-KR" sz="1400">
                      <a:ea typeface="굴림" panose="020B0600000101010101" pitchFamily="50" charset="-127"/>
                    </a:rPr>
                    <a:t>variables</a:t>
                  </a:r>
                  <a:endParaRPr lang="en-US" altLang="ko-KR" sz="1400">
                    <a:latin typeface="Times New Roman" panose="02020603050405020304" pitchFamily="18" charset="0"/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075" name="Rectangle 25"/>
                <p:cNvSpPr>
                  <a:spLocks noChangeArrowheads="1"/>
                </p:cNvSpPr>
                <p:nvPr/>
              </p:nvSpPr>
              <p:spPr bwMode="auto">
                <a:xfrm>
                  <a:off x="672" y="2610"/>
                  <a:ext cx="642" cy="63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endParaRPr lang="ko-KR" altLang="en-US" sz="1800">
                    <a:ea typeface="굴림" panose="020B0600000101010101" pitchFamily="50" charset="-127"/>
                  </a:endParaRPr>
                </a:p>
              </p:txBody>
            </p:sp>
          </p:grpSp>
          <p:grpSp>
            <p:nvGrpSpPr>
              <p:cNvPr id="2071" name="Group 26"/>
              <p:cNvGrpSpPr>
                <a:grpSpLocks/>
              </p:cNvGrpSpPr>
              <p:nvPr/>
            </p:nvGrpSpPr>
            <p:grpSpPr bwMode="auto">
              <a:xfrm>
                <a:off x="768" y="2519"/>
                <a:ext cx="492" cy="194"/>
                <a:chOff x="924" y="3755"/>
                <a:chExt cx="492" cy="194"/>
              </a:xfrm>
            </p:grpSpPr>
            <p:sp>
              <p:nvSpPr>
                <p:cNvPr id="2072" name="Rectangle 27"/>
                <p:cNvSpPr>
                  <a:spLocks noChangeArrowheads="1"/>
                </p:cNvSpPr>
                <p:nvPr/>
              </p:nvSpPr>
              <p:spPr bwMode="auto">
                <a:xfrm>
                  <a:off x="924" y="3774"/>
                  <a:ext cx="492" cy="156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endParaRPr lang="ko-KR" altLang="en-US" sz="1800">
                    <a:ea typeface="굴림" panose="020B0600000101010101" pitchFamily="50" charset="-127"/>
                  </a:endParaRPr>
                </a:p>
              </p:txBody>
            </p:sp>
            <p:sp>
              <p:nvSpPr>
                <p:cNvPr id="207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944" y="3755"/>
                  <a:ext cx="466" cy="1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pitchFamily="82" charset="2"/>
                    <a:defRPr sz="2400">
                      <a:solidFill>
                        <a:schemeClr val="tx1"/>
                      </a:solidFill>
                      <a:latin typeface="Comic Sans MS" panose="030F0702030302020204" pitchFamily="66" charset="0"/>
                    </a:defRPr>
                  </a:lvl9pPr>
                </a:lstStyle>
                <a:p>
                  <a:pPr algn="ctr"/>
                  <a:r>
                    <a:rPr lang="en-US" altLang="ko-KR" sz="1400">
                      <a:solidFill>
                        <a:schemeClr val="bg1"/>
                      </a:solidFill>
                      <a:ea typeface="굴림" panose="020B0600000101010101" pitchFamily="50" charset="-127"/>
                    </a:rPr>
                    <a:t>socket</a:t>
                  </a:r>
                  <a:endParaRPr lang="en-US" altLang="ko-KR" sz="1800">
                    <a:latin typeface="Times New Roman" panose="02020603050405020304" pitchFamily="18" charset="0"/>
                    <a:ea typeface="굴림" panose="020B0600000101010101" pitchFamily="50" charset="-127"/>
                  </a:endParaRPr>
                </a:p>
              </p:txBody>
            </p:sp>
          </p:grpSp>
        </p:grpSp>
        <p:sp>
          <p:nvSpPr>
            <p:cNvPr id="2061" name="Text Box 29"/>
            <p:cNvSpPr txBox="1">
              <a:spLocks noChangeArrowheads="1"/>
            </p:cNvSpPr>
            <p:nvPr/>
          </p:nvSpPr>
          <p:spPr bwMode="auto">
            <a:xfrm>
              <a:off x="7163655" y="4820634"/>
              <a:ext cx="149432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ko-KR" altLang="en-US" sz="1400" dirty="0" smtClean="0">
                  <a:ea typeface="굴림" panose="020B0600000101010101" pitchFamily="50" charset="-127"/>
                </a:rPr>
                <a:t>프로그램 개발자</a:t>
              </a:r>
              <a:endParaRPr lang="en-US" altLang="ko-KR" sz="1400" dirty="0" smtClean="0"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1400" dirty="0" smtClean="0">
                  <a:latin typeface="Times New Roman" panose="02020603050405020304" pitchFamily="18" charset="0"/>
                  <a:ea typeface="굴림" panose="020B0600000101010101" pitchFamily="50" charset="-127"/>
                </a:rPr>
                <a:t>관리</a:t>
              </a:r>
              <a:endParaRPr lang="en-US" altLang="ko-KR" sz="2000" dirty="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062" name="Text Box 30"/>
            <p:cNvSpPr txBox="1">
              <a:spLocks noChangeArrowheads="1"/>
            </p:cNvSpPr>
            <p:nvPr/>
          </p:nvSpPr>
          <p:spPr bwMode="auto">
            <a:xfrm>
              <a:off x="7125692" y="5744468"/>
              <a:ext cx="131478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r>
                <a:rPr lang="ko-KR" altLang="en-US" sz="1400" dirty="0" smtClean="0">
                  <a:ea typeface="굴림" panose="020B0600000101010101" pitchFamily="50" charset="-127"/>
                </a:rPr>
                <a:t>운영체제 관리</a:t>
              </a:r>
              <a:endParaRPr lang="en-US" altLang="ko-KR" sz="2000" dirty="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063" name="Line 31"/>
            <p:cNvSpPr>
              <a:spLocks noChangeShapeType="1"/>
            </p:cNvSpPr>
            <p:nvPr/>
          </p:nvSpPr>
          <p:spPr bwMode="auto">
            <a:xfrm flipV="1">
              <a:off x="7180263" y="4814888"/>
              <a:ext cx="0" cy="4857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64" name="Line 32"/>
            <p:cNvSpPr>
              <a:spLocks noChangeShapeType="1"/>
            </p:cNvSpPr>
            <p:nvPr/>
          </p:nvSpPr>
          <p:spPr bwMode="auto">
            <a:xfrm flipH="1" flipV="1">
              <a:off x="7170738" y="5395913"/>
              <a:ext cx="0" cy="10001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65" name="Freeform 34"/>
            <p:cNvSpPr>
              <a:spLocks/>
            </p:cNvSpPr>
            <p:nvPr/>
          </p:nvSpPr>
          <p:spPr bwMode="auto">
            <a:xfrm>
              <a:off x="3754438" y="4986338"/>
              <a:ext cx="1798637" cy="1674812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066" name="Text Box 35"/>
            <p:cNvSpPr txBox="1">
              <a:spLocks noChangeArrowheads="1"/>
            </p:cNvSpPr>
            <p:nvPr/>
          </p:nvSpPr>
          <p:spPr bwMode="auto">
            <a:xfrm>
              <a:off x="4119600" y="5660915"/>
              <a:ext cx="1107997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pitchFamily="82" charset="2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 algn="ctr"/>
              <a:r>
                <a:rPr lang="ko-KR" altLang="en-US" sz="1800" dirty="0" smtClean="0">
                  <a:ea typeface="굴림" panose="020B0600000101010101" pitchFamily="50" charset="-127"/>
                </a:rPr>
                <a:t>인터넷</a:t>
              </a:r>
              <a:endParaRPr lang="en-US" altLang="ko-KR" sz="1800" dirty="0" smtClean="0">
                <a:ea typeface="굴림" panose="020B0600000101010101" pitchFamily="50" charset="-127"/>
              </a:endParaRPr>
            </a:p>
            <a:p>
              <a:pPr algn="ctr"/>
              <a:r>
                <a:rPr lang="ko-KR" altLang="en-US" sz="1800" dirty="0" smtClean="0">
                  <a:latin typeface="Times New Roman" panose="02020603050405020304" pitchFamily="18" charset="0"/>
                  <a:ea typeface="굴림" panose="020B0600000101010101" pitchFamily="50" charset="-127"/>
                </a:rPr>
                <a:t>네트워크</a:t>
              </a:r>
              <a:endParaRPr lang="en-US" altLang="ko-KR" sz="2000" dirty="0">
                <a:latin typeface="Times New Roman" panose="02020603050405020304" pitchFamily="18" charset="0"/>
                <a:ea typeface="굴림" panose="020B0600000101010101" pitchFamily="50" charset="-127"/>
              </a:endParaRPr>
            </a:p>
          </p:txBody>
        </p:sp>
        <p:sp>
          <p:nvSpPr>
            <p:cNvPr id="2067" name="Line 36"/>
            <p:cNvSpPr>
              <a:spLocks noChangeShapeType="1"/>
            </p:cNvSpPr>
            <p:nvPr/>
          </p:nvSpPr>
          <p:spPr bwMode="auto">
            <a:xfrm flipH="1">
              <a:off x="3386138" y="5681663"/>
              <a:ext cx="2533650" cy="952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3659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4"/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fld id="{7E44CD9F-2F71-4E2A-AE82-433D75550CB0}" type="slidenum">
              <a:rPr lang="ko-KR" altLang="en-US" sz="1400">
                <a:latin typeface="Times New Roman" panose="02020603050405020304" pitchFamily="18" charset="0"/>
              </a:rPr>
              <a:pPr/>
              <a:t>3</a:t>
            </a:fld>
            <a:endParaRPr lang="en-US" altLang="ko-KR" sz="1400">
              <a:latin typeface="Times New Roman" panose="02020603050405020304" pitchFamily="18" charset="0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188640"/>
            <a:ext cx="7772400" cy="497433"/>
          </a:xfrm>
        </p:spPr>
        <p:txBody>
          <a:bodyPr/>
          <a:lstStyle/>
          <a:p>
            <a:r>
              <a:rPr lang="en-US" altLang="ko-KR" sz="4000" b="1" dirty="0" smtClean="0">
                <a:latin typeface="Calibri Light" panose="020F0302020204030204" pitchFamily="34" charset="0"/>
                <a:ea typeface="굴림" panose="020B0600000101010101" pitchFamily="50" charset="-127"/>
                <a:cs typeface="Calibri Light" panose="020F0302020204030204" pitchFamily="34" charset="0"/>
              </a:rPr>
              <a:t>TCP</a:t>
            </a:r>
            <a:r>
              <a:rPr lang="ko-KR" altLang="en-US" sz="4000" b="1" dirty="0" smtClean="0">
                <a:latin typeface="Calibri Light" panose="020F0302020204030204" pitchFamily="34" charset="0"/>
                <a:ea typeface="굴림" panose="020B0600000101010101" pitchFamily="50" charset="-127"/>
                <a:cs typeface="Calibri Light" panose="020F0302020204030204" pitchFamily="34" charset="0"/>
              </a:rPr>
              <a:t> 소켓 프로그램 개요 </a:t>
            </a:r>
            <a:r>
              <a:rPr lang="en-US" altLang="ko-KR" sz="4000" b="1" dirty="0" smtClean="0">
                <a:latin typeface="Calibri Light" panose="020F0302020204030204" pitchFamily="34" charset="0"/>
                <a:ea typeface="굴림" panose="020B0600000101010101" pitchFamily="50" charset="-127"/>
                <a:cs typeface="Calibri Light" panose="020F0302020204030204" pitchFamily="34" charset="0"/>
              </a:rPr>
              <a:t>(1)</a:t>
            </a:r>
            <a:endParaRPr lang="en-US" altLang="ko-KR" sz="3600" b="1" dirty="0" smtClean="0">
              <a:latin typeface="Calibri Light" panose="020F0302020204030204" pitchFamily="34" charset="0"/>
              <a:ea typeface="굴림" panose="020B0600000101010101" pitchFamily="50" charset="-127"/>
              <a:cs typeface="Calibri Light" panose="020F0302020204030204" pitchFamily="34" charset="0"/>
            </a:endParaRP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1192547"/>
            <a:ext cx="5137150" cy="5386388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dirty="0" smtClean="0">
                <a:solidFill>
                  <a:srgbClr val="FF0000"/>
                </a:solidFill>
                <a:ea typeface="굴림" pitchFamily="50" charset="-127"/>
              </a:rPr>
              <a:t>Server</a:t>
            </a:r>
            <a:endParaRPr lang="en-US" altLang="ko-KR" sz="2000" dirty="0" smtClean="0">
              <a:ea typeface="굴림" pitchFamily="50" charset="-127"/>
            </a:endParaRPr>
          </a:p>
          <a:p>
            <a:pPr marL="540000" lvl="1"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800" dirty="0" smtClean="0">
                <a:ea typeface="굴림" pitchFamily="50" charset="-127"/>
              </a:rPr>
              <a:t>서버 프로세스가 먼저 수행</a:t>
            </a:r>
            <a:endParaRPr lang="en-US" altLang="ko-KR" sz="1800" dirty="0" smtClean="0">
              <a:ea typeface="굴림" pitchFamily="50" charset="-127"/>
            </a:endParaRPr>
          </a:p>
          <a:p>
            <a:pPr marL="540000" lvl="1"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800" dirty="0" smtClean="0">
                <a:ea typeface="굴림" pitchFamily="50" charset="-127"/>
              </a:rPr>
              <a:t>서버가 클라이언트의 접속을 받아주는 초기소켓</a:t>
            </a:r>
            <a:r>
              <a:rPr lang="en-US" altLang="ko-KR" sz="1800" dirty="0" smtClean="0">
                <a:ea typeface="굴림" pitchFamily="50" charset="-127"/>
              </a:rPr>
              <a:t>(welcome socket)</a:t>
            </a:r>
            <a:r>
              <a:rPr lang="ko-KR" altLang="en-US" sz="1800" dirty="0" smtClean="0">
                <a:ea typeface="굴림" pitchFamily="50" charset="-127"/>
              </a:rPr>
              <a:t>을 생성</a:t>
            </a:r>
            <a:endParaRPr lang="en-US" altLang="ko-KR" sz="1800" dirty="0" smtClean="0">
              <a:ea typeface="굴림" pitchFamily="50" charset="-127"/>
            </a:endParaRPr>
          </a:p>
          <a:p>
            <a:pPr>
              <a:defRPr/>
            </a:pPr>
            <a:endParaRPr lang="en-US" altLang="ko-KR" sz="1100" dirty="0">
              <a:solidFill>
                <a:srgbClr val="FF0000"/>
              </a:solidFill>
              <a:ea typeface="굴림" pitchFamily="50" charset="-127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ko-KR" sz="2000" dirty="0" smtClean="0">
                <a:solidFill>
                  <a:srgbClr val="FF0000"/>
                </a:solidFill>
                <a:ea typeface="굴림" pitchFamily="50" charset="-127"/>
              </a:rPr>
              <a:t>Client</a:t>
            </a:r>
            <a:endParaRPr lang="en-US" altLang="ko-KR" sz="2400" dirty="0" smtClean="0">
              <a:ea typeface="굴림" pitchFamily="50" charset="-127"/>
            </a:endParaRPr>
          </a:p>
          <a:p>
            <a:pPr marL="540000" lvl="1"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800" dirty="0" smtClean="0">
                <a:ea typeface="굴림" pitchFamily="50" charset="-127"/>
              </a:rPr>
              <a:t>클라이언트의 소켓 생성 </a:t>
            </a:r>
            <a:endParaRPr lang="en-US" altLang="ko-KR" sz="1800" dirty="0" smtClean="0">
              <a:ea typeface="굴림" pitchFamily="50" charset="-127"/>
            </a:endParaRPr>
          </a:p>
          <a:p>
            <a:pPr marL="540000" lvl="1"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800" dirty="0" smtClean="0">
                <a:ea typeface="굴림" pitchFamily="50" charset="-127"/>
              </a:rPr>
              <a:t>서버 프로세스의 </a:t>
            </a:r>
            <a:r>
              <a:rPr lang="en-US" altLang="ko-KR" sz="1800" dirty="0" smtClean="0">
                <a:ea typeface="굴림" pitchFamily="50" charset="-127"/>
              </a:rPr>
              <a:t>IP </a:t>
            </a:r>
            <a:r>
              <a:rPr lang="ko-KR" altLang="en-US" sz="1800" dirty="0" smtClean="0">
                <a:ea typeface="굴림" pitchFamily="50" charset="-127"/>
              </a:rPr>
              <a:t>주소와 포트 번호를 이용하여 접속 시도</a:t>
            </a:r>
            <a:endParaRPr lang="en-US" altLang="ko-KR" sz="1800" dirty="0" smtClean="0">
              <a:ea typeface="굴림" pitchFamily="50" charset="-127"/>
            </a:endParaRPr>
          </a:p>
          <a:p>
            <a:pPr>
              <a:defRPr/>
            </a:pPr>
            <a:endParaRPr lang="en-US" altLang="ko-KR" sz="1200" dirty="0" smtClean="0">
              <a:ea typeface="굴림" pitchFamily="50" charset="-127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ko-KR" altLang="en-US" sz="2400" dirty="0" smtClean="0">
                <a:solidFill>
                  <a:srgbClr val="FF0000"/>
                </a:solidFill>
                <a:ea typeface="굴림" pitchFamily="50" charset="-127"/>
              </a:rPr>
              <a:t>통신 절차</a:t>
            </a:r>
            <a:endParaRPr lang="en-US" altLang="ko-KR" sz="2400" dirty="0" smtClean="0">
              <a:solidFill>
                <a:srgbClr val="FF0000"/>
              </a:solidFill>
              <a:ea typeface="굴림" pitchFamily="50" charset="-127"/>
            </a:endParaRPr>
          </a:p>
          <a:p>
            <a:pPr marL="324000" indent="-324000">
              <a:buSzPct val="100000"/>
              <a:buFont typeface="+mj-lt"/>
              <a:buAutoNum type="arabicPeriod"/>
              <a:defRPr/>
            </a:pPr>
            <a:r>
              <a:rPr lang="ko-KR" altLang="en-US" sz="1800" dirty="0" smtClean="0">
                <a:ea typeface="굴림" pitchFamily="50" charset="-127"/>
              </a:rPr>
              <a:t>접속 요청이 오면</a:t>
            </a:r>
            <a:r>
              <a:rPr lang="en-US" altLang="ko-KR" sz="1800" dirty="0" smtClean="0">
                <a:ea typeface="굴림" pitchFamily="50" charset="-127"/>
              </a:rPr>
              <a:t>, </a:t>
            </a:r>
            <a:r>
              <a:rPr lang="ko-KR" altLang="en-US" sz="1800" dirty="0" smtClean="0">
                <a:ea typeface="굴림" pitchFamily="50" charset="-127"/>
              </a:rPr>
              <a:t>연결 소켓을 새로 생성하여 클라이언트와 연결</a:t>
            </a:r>
            <a:endParaRPr lang="en-US" altLang="ko-KR" sz="1800" dirty="0" smtClean="0">
              <a:ea typeface="굴림" pitchFamily="50" charset="-127"/>
            </a:endParaRPr>
          </a:p>
          <a:p>
            <a:pPr marL="324000" indent="-324000">
              <a:buSzPct val="100000"/>
              <a:buFont typeface="+mj-lt"/>
              <a:buAutoNum type="arabicPeriod"/>
              <a:defRPr/>
            </a:pPr>
            <a:r>
              <a:rPr lang="en-US" altLang="ko-KR" sz="1800" dirty="0" smtClean="0">
                <a:ea typeface="굴림" pitchFamily="50" charset="-127"/>
              </a:rPr>
              <a:t>IP </a:t>
            </a:r>
            <a:r>
              <a:rPr lang="ko-KR" altLang="en-US" sz="1800" dirty="0" smtClean="0">
                <a:ea typeface="굴림" pitchFamily="50" charset="-127"/>
              </a:rPr>
              <a:t>주소와 포트번호 확인하여 통신</a:t>
            </a:r>
            <a:endParaRPr lang="en-US" altLang="ko-KR" sz="1800" dirty="0" smtClean="0">
              <a:ea typeface="굴림" pitchFamily="50" charset="-127"/>
            </a:endParaRPr>
          </a:p>
          <a:p>
            <a:pPr marL="324000" indent="-324000">
              <a:buSzPct val="100000"/>
              <a:buFont typeface="+mj-lt"/>
              <a:buAutoNum type="arabicPeriod"/>
              <a:defRPr/>
            </a:pPr>
            <a:r>
              <a:rPr lang="ko-KR" altLang="en-US" sz="1800" dirty="0" smtClean="0">
                <a:ea typeface="굴림" pitchFamily="50" charset="-127"/>
              </a:rPr>
              <a:t>다수의 클라이언트와 연결 소켓 동시 사용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060848"/>
            <a:ext cx="3528392" cy="327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11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467544" y="116632"/>
            <a:ext cx="7772400" cy="497433"/>
          </a:xfrm>
          <a:prstGeom prst="rect">
            <a:avLst/>
          </a:prstGeom>
        </p:spPr>
        <p:txBody>
          <a:bodyPr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en-US" altLang="ko-KR" sz="4000" kern="0" dirty="0" smtClean="0">
                <a:latin typeface="Calibri Light" panose="020F0302020204030204" pitchFamily="34" charset="0"/>
                <a:ea typeface="굴림" panose="020B0600000101010101" pitchFamily="50" charset="-127"/>
                <a:cs typeface="Calibri Light" panose="020F0302020204030204" pitchFamily="34" charset="0"/>
              </a:rPr>
              <a:t>TCP</a:t>
            </a:r>
            <a:r>
              <a:rPr lang="ko-KR" altLang="en-US" sz="4000" kern="0" dirty="0" smtClean="0">
                <a:latin typeface="Calibri Light" panose="020F0302020204030204" pitchFamily="34" charset="0"/>
                <a:ea typeface="굴림" panose="020B0600000101010101" pitchFamily="50" charset="-127"/>
                <a:cs typeface="Calibri Light" panose="020F0302020204030204" pitchFamily="34" charset="0"/>
              </a:rPr>
              <a:t> 소켓 프로그램 개요 </a:t>
            </a:r>
            <a:r>
              <a:rPr lang="en-US" altLang="ko-KR" sz="4000" kern="0" dirty="0" smtClean="0">
                <a:latin typeface="Calibri Light" panose="020F0302020204030204" pitchFamily="34" charset="0"/>
                <a:ea typeface="굴림" panose="020B0600000101010101" pitchFamily="50" charset="-127"/>
                <a:cs typeface="Calibri Light" panose="020F0302020204030204" pitchFamily="34" charset="0"/>
              </a:rPr>
              <a:t>(2)</a:t>
            </a:r>
            <a:endParaRPr lang="en-US" altLang="ko-KR" sz="3600" kern="0" dirty="0" smtClean="0">
              <a:latin typeface="Calibri Light" panose="020F0302020204030204" pitchFamily="34" charset="0"/>
              <a:ea typeface="굴림" panose="020B0600000101010101" pitchFamily="50" charset="-127"/>
              <a:cs typeface="Calibri Light" panose="020F030202020403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836712"/>
            <a:ext cx="4896544" cy="5590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545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내용 개체 틀 4"/>
          <p:cNvSpPr>
            <a:spLocks/>
          </p:cNvSpPr>
          <p:nvPr/>
        </p:nvSpPr>
        <p:spPr bwMode="auto">
          <a:xfrm>
            <a:off x="0" y="1007267"/>
            <a:ext cx="4760033" cy="537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635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algn="ctr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서버 프로그램 코드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</a:p>
          <a:p>
            <a:pPr lvl="1" algn="ctr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#define TIME_PORT     5010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main( )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{  int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	sock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sock2, </a:t>
            </a:r>
            <a:r>
              <a:rPr lang="en-US" altLang="ko-KR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len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; 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 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struct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sockaddr_in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server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client;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sock = 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socket( AF_INET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SOCK_STREAM, 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0 );</a:t>
            </a:r>
            <a:endParaRPr lang="en-US" altLang="ko-KR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server.sin_family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AF_INET;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server.sin_addr.s_addr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200" b="1" dirty="0" err="1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htonl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INADDR_ANY ); </a:t>
            </a:r>
            <a:endParaRPr lang="en-US" altLang="ko-KR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 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server.sin_port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200" b="1" dirty="0" err="1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htons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TIME_PORT );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bind( sock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struct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sockaddr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*)&amp;server, 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sizeof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(server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);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 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listen( sock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5 );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 while (1) {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   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sock2=accept(sock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struct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sockaddr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*)&amp;client, &amp;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len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);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   x = 10;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   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send(sock2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&amp;x, </a:t>
            </a:r>
            <a:r>
              <a:rPr lang="en-US" altLang="ko-KR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sizeof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(x), 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0);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   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close(sock2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);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  } </a:t>
            </a:r>
            <a:endParaRPr lang="en-US" altLang="ko-KR" sz="12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close( sock );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} 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123" name="내용 개체 틀 4"/>
          <p:cNvSpPr>
            <a:spLocks/>
          </p:cNvSpPr>
          <p:nvPr/>
        </p:nvSpPr>
        <p:spPr bwMode="auto">
          <a:xfrm>
            <a:off x="4427984" y="1007267"/>
            <a:ext cx="4716422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1pPr>
            <a:lvl2pPr marL="463550" indent="-28575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defRPr sz="2400">
                <a:solidFill>
                  <a:schemeClr val="tx1"/>
                </a:solidFill>
                <a:latin typeface="Comic Sans MS" panose="030F0702030302020204" pitchFamily="66" charset="0"/>
              </a:defRPr>
            </a:lvl9pPr>
          </a:lstStyle>
          <a:p>
            <a:pPr lvl="1" algn="ctr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클라이언트 프로그램 코드</a:t>
            </a:r>
            <a:r>
              <a:rPr lang="en-US" altLang="ko-KR" sz="2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en-US" altLang="ko-KR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#define TIME_SERVER     "211.223.201.30"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#define TIME_PORT        5010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main( )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{  int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	sock, read; 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  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struct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sockaddr_in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server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;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  sock = socket (AF_INET, SOCK_STREAM, 0);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 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server.sin_family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AF_INET;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 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server.sin_addr.s_addr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200" b="1" dirty="0" err="1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htonl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</a:t>
            </a:r>
            <a:r>
              <a:rPr lang="en-US" altLang="ko-KR" sz="1200" b="1" dirty="0" err="1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inet_addr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(TIME_SERVER));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   </a:t>
            </a:r>
            <a:r>
              <a:rPr lang="en-US" altLang="ko-KR" sz="1200" b="1" dirty="0" err="1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server.sin_port</a:t>
            </a:r>
            <a:r>
              <a:rPr lang="en-US" altLang="ko-KR" sz="1200" b="1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= </a:t>
            </a:r>
            <a:r>
              <a:rPr lang="en-US" altLang="ko-KR" sz="1200" b="1" dirty="0" err="1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htons</a:t>
            </a:r>
            <a:r>
              <a:rPr lang="en-US" altLang="ko-KR" sz="12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 TIME_PORT ); </a:t>
            </a:r>
            <a:endParaRPr lang="en-US" altLang="ko-KR" sz="1200" b="1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 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connect(sock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(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struct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sockaddr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*)&amp;server, </a:t>
            </a:r>
            <a:r>
              <a:rPr lang="en-US" altLang="ko-KR" sz="12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sizeof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(server));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  </a:t>
            </a:r>
            <a:r>
              <a:rPr lang="en-US" altLang="ko-KR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recv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 sock</a:t>
            </a: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&amp;read, </a:t>
            </a:r>
            <a:r>
              <a:rPr lang="en-US" altLang="ko-KR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sizeof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(read), 0 );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  printf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(“Received: %d", read); </a:t>
            </a:r>
            <a:endParaRPr lang="en-US" altLang="ko-KR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   close (sock); </a:t>
            </a:r>
          </a:p>
          <a:p>
            <a:pPr lvl="1">
              <a:lnSpc>
                <a:spcPct val="110000"/>
              </a:lnSpc>
              <a:buClr>
                <a:srgbClr val="996600"/>
              </a:buClr>
              <a:buFont typeface="Wingdings" panose="05000000000000000000" pitchFamily="2" charset="2"/>
              <a:buNone/>
            </a:pPr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} 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67544" y="116632"/>
            <a:ext cx="7772400" cy="497433"/>
          </a:xfrm>
          <a:prstGeom prst="rect">
            <a:avLst/>
          </a:prstGeom>
        </p:spPr>
        <p:txBody>
          <a:bodyPr/>
          <a:lstStyle>
            <a:lvl1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2pPr>
            <a:lvl3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3pPr>
            <a:lvl4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4pPr>
            <a:lvl5pPr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5pPr>
            <a:lvl6pPr marL="4572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6pPr>
            <a:lvl7pPr marL="9144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7pPr>
            <a:lvl8pPr marL="13716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8pPr>
            <a:lvl9pPr marL="1828800" algn="l" rtl="0" eaLnBrk="1" fontAlgn="base" latinLnBrk="1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Franklin Gothic Medium" pitchFamily="34" charset="0"/>
              </a:defRPr>
            </a:lvl9pPr>
          </a:lstStyle>
          <a:p>
            <a:r>
              <a:rPr lang="ko-KR" altLang="en-US" sz="3600" kern="0" dirty="0" smtClean="0">
                <a:latin typeface="Calibri Light" panose="020F0302020204030204" pitchFamily="34" charset="0"/>
                <a:ea typeface="굴림" panose="020B0600000101010101" pitchFamily="50" charset="-127"/>
                <a:cs typeface="Calibri Light" panose="020F0302020204030204" pitchFamily="34" charset="0"/>
              </a:rPr>
              <a:t>네트워크 상의 원격 프로세스 통신 </a:t>
            </a:r>
            <a:endParaRPr lang="en-US" altLang="ko-KR" kern="0" dirty="0" smtClean="0">
              <a:latin typeface="Calibri Light" panose="020F0302020204030204" pitchFamily="34" charset="0"/>
              <a:ea typeface="굴림" panose="020B0600000101010101" pitchFamily="50" charset="-127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4414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3528" y="188640"/>
            <a:ext cx="8640960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b="0" dirty="0" smtClean="0">
                <a:solidFill>
                  <a:schemeClr val="tx1"/>
                </a:solidFill>
                <a:latin typeface="Calibri Light" panose="020F0302020204030204" pitchFamily="34" charset="0"/>
                <a:ea typeface="굴림" charset="-127"/>
                <a:cs typeface="Calibri Light" panose="020F0302020204030204" pitchFamily="34" charset="0"/>
              </a:rPr>
              <a:t>동일 컴퓨터 내에서 프로세스 통신 </a:t>
            </a:r>
            <a:r>
              <a:rPr lang="en-US" altLang="ko-KR" sz="3600" b="0" dirty="0" smtClean="0">
                <a:solidFill>
                  <a:schemeClr val="tx1"/>
                </a:solidFill>
                <a:latin typeface="Calibri Light" panose="020F0302020204030204" pitchFamily="34" charset="0"/>
                <a:ea typeface="굴림" charset="-127"/>
                <a:cs typeface="Calibri Light" panose="020F0302020204030204" pitchFamily="34" charset="0"/>
              </a:rPr>
              <a:t>(1)</a:t>
            </a:r>
            <a:r>
              <a:rPr lang="ko-KR" altLang="en-US" sz="3600" b="0" dirty="0" smtClean="0">
                <a:solidFill>
                  <a:schemeClr val="tx1"/>
                </a:solidFill>
                <a:latin typeface="Calibri Light" panose="020F0302020204030204" pitchFamily="34" charset="0"/>
                <a:ea typeface="굴림" charset="-127"/>
                <a:cs typeface="Calibri Light" panose="020F0302020204030204" pitchFamily="34" charset="0"/>
              </a:rPr>
              <a:t> </a:t>
            </a:r>
            <a:endParaRPr lang="ko-KR" altLang="en-US" sz="3600" b="0" dirty="0">
              <a:solidFill>
                <a:schemeClr val="tx1"/>
              </a:solidFill>
              <a:latin typeface="Calibri Light" panose="020F0302020204030204" pitchFamily="34" charset="0"/>
              <a:ea typeface="굴림" charset="-127"/>
              <a:cs typeface="Calibri Light" panose="020F030202020403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239307"/>
            <a:ext cx="6271901" cy="53130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10314" y="859964"/>
            <a:ext cx="232634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서버 코드 </a:t>
            </a:r>
            <a:r>
              <a:rPr lang="en-US" altLang="ko-KR" b="1" dirty="0" smtClean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(</a:t>
            </a:r>
            <a:r>
              <a:rPr lang="en-US" altLang="ko-KR" b="1" dirty="0" err="1" smtClean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server.c</a:t>
            </a:r>
            <a:r>
              <a:rPr lang="en-US" altLang="ko-KR" b="1" dirty="0" smtClean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)</a:t>
            </a:r>
            <a:r>
              <a:rPr lang="ko-KR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8612854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18818269-64D8-4BF7-8F79-662BA2DB8336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229297"/>
            <a:ext cx="6585234" cy="53524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10314" y="859964"/>
            <a:ext cx="2941831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클라이언트 코드 </a:t>
            </a:r>
            <a:r>
              <a:rPr lang="en-US" altLang="ko-KR" b="1" dirty="0" smtClean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(</a:t>
            </a:r>
            <a:r>
              <a:rPr lang="en-US" altLang="ko-KR" b="1" dirty="0" err="1" smtClean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client.c</a:t>
            </a:r>
            <a:r>
              <a:rPr lang="en-US" altLang="ko-KR" b="1" dirty="0" smtClean="0">
                <a:latin typeface="Arial" panose="020B0604020202020204" pitchFamily="34" charset="0"/>
                <a:ea typeface="굴림" charset="-127"/>
                <a:cs typeface="Arial" panose="020B0604020202020204" pitchFamily="34" charset="0"/>
              </a:rPr>
              <a:t>)</a:t>
            </a:r>
            <a:r>
              <a:rPr lang="ko-KR" alt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23528" y="188640"/>
            <a:ext cx="8640960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b="0" dirty="0" smtClean="0">
                <a:solidFill>
                  <a:schemeClr val="tx1"/>
                </a:solidFill>
                <a:latin typeface="Calibri Light" panose="020F0302020204030204" pitchFamily="34" charset="0"/>
                <a:ea typeface="굴림" charset="-127"/>
                <a:cs typeface="Calibri Light" panose="020F0302020204030204" pitchFamily="34" charset="0"/>
              </a:rPr>
              <a:t>동일 컴퓨터 내에서 프로세스 통신 </a:t>
            </a:r>
            <a:r>
              <a:rPr lang="en-US" altLang="ko-KR" sz="3600" b="0" dirty="0" smtClean="0">
                <a:solidFill>
                  <a:schemeClr val="tx1"/>
                </a:solidFill>
                <a:latin typeface="Calibri Light" panose="020F0302020204030204" pitchFamily="34" charset="0"/>
                <a:ea typeface="굴림" charset="-127"/>
                <a:cs typeface="Calibri Light" panose="020F0302020204030204" pitchFamily="34" charset="0"/>
              </a:rPr>
              <a:t>(2)</a:t>
            </a:r>
            <a:r>
              <a:rPr lang="ko-KR" altLang="en-US" sz="3600" b="0" dirty="0" smtClean="0">
                <a:solidFill>
                  <a:schemeClr val="tx1"/>
                </a:solidFill>
                <a:latin typeface="Calibri Light" panose="020F0302020204030204" pitchFamily="34" charset="0"/>
                <a:ea typeface="굴림" charset="-127"/>
                <a:cs typeface="Calibri Light" panose="020F0302020204030204" pitchFamily="34" charset="0"/>
              </a:rPr>
              <a:t> </a:t>
            </a:r>
            <a:endParaRPr lang="ko-KR" altLang="en-US" sz="3600" b="0" dirty="0">
              <a:solidFill>
                <a:schemeClr val="tx1"/>
              </a:solidFill>
              <a:latin typeface="Calibri Light" panose="020F0302020204030204" pitchFamily="34" charset="0"/>
              <a:ea typeface="굴림" charset="-127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560183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75606ED9-B5A0-4D77-90DB-DDEDEFD29322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23528" y="188640"/>
            <a:ext cx="8220075" cy="57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3600" dirty="0" smtClean="0">
                <a:solidFill>
                  <a:schemeClr val="tx1"/>
                </a:solidFill>
                <a:latin typeface="Arial Black" pitchFamily="34" charset="0"/>
                <a:ea typeface="굴림" charset="-127"/>
              </a:rPr>
              <a:t>실행 결과</a:t>
            </a:r>
            <a:endParaRPr lang="ko-KR" altLang="en-US" sz="3600" dirty="0">
              <a:solidFill>
                <a:schemeClr val="tx1"/>
              </a:solidFill>
              <a:latin typeface="Arial Black" pitchFamily="34" charset="0"/>
              <a:ea typeface="굴림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24" y="2708920"/>
            <a:ext cx="9059774" cy="27416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34687230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AC0A6D-D9C9-4415-BEC6-954D21A77C24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23528" y="116632"/>
            <a:ext cx="8220075" cy="65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2pPr>
            <a:lvl3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3pPr>
            <a:lvl4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4pPr>
            <a:lvl5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40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실습 과제 </a:t>
            </a:r>
            <a:r>
              <a:rPr lang="en-US" altLang="ko-KR" sz="40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1</a:t>
            </a:r>
            <a:endParaRPr lang="ko-KR" altLang="en-US" sz="4000" dirty="0" smtClean="0"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77080" y="805963"/>
            <a:ext cx="9066919" cy="114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1800" dirty="0" smtClean="0">
                <a:ea typeface="굴림" charset="-127"/>
              </a:rPr>
              <a:t>앞의 예제 코드는 </a:t>
            </a:r>
            <a:r>
              <a:rPr lang="ko-KR" altLang="en-US" sz="1800" dirty="0" err="1" smtClean="0">
                <a:ea typeface="굴림" charset="-127"/>
              </a:rPr>
              <a:t>단방향</a:t>
            </a:r>
            <a:r>
              <a:rPr lang="ko-KR" altLang="en-US" sz="1800" dirty="0" smtClean="0">
                <a:ea typeface="굴림" charset="-127"/>
              </a:rPr>
              <a:t> </a:t>
            </a:r>
            <a:r>
              <a:rPr lang="ko-KR" altLang="en-US" sz="1800" dirty="0" err="1" smtClean="0">
                <a:ea typeface="굴림" charset="-127"/>
              </a:rPr>
              <a:t>통신만을</a:t>
            </a:r>
            <a:r>
              <a:rPr lang="ko-KR" altLang="en-US" sz="1800" dirty="0" smtClean="0">
                <a:ea typeface="굴림" charset="-127"/>
              </a:rPr>
              <a:t> 수행한다</a:t>
            </a:r>
            <a:r>
              <a:rPr lang="en-US" altLang="ko-KR" sz="1800" dirty="0" smtClean="0">
                <a:ea typeface="굴림" charset="-127"/>
              </a:rPr>
              <a:t>. </a:t>
            </a:r>
            <a:r>
              <a:rPr lang="ko-KR" altLang="en-US" sz="1800" dirty="0" smtClean="0">
                <a:ea typeface="굴림" charset="-127"/>
              </a:rPr>
              <a:t>아래와 같이 </a:t>
            </a:r>
            <a:r>
              <a:rPr lang="ko-KR" altLang="en-US" sz="1800" u="sng" dirty="0" smtClean="0">
                <a:ea typeface="굴림" charset="-127"/>
              </a:rPr>
              <a:t>양방향 통신을 수행</a:t>
            </a:r>
            <a:r>
              <a:rPr lang="ko-KR" altLang="en-US" sz="1800" dirty="0" smtClean="0">
                <a:ea typeface="굴림" charset="-127"/>
              </a:rPr>
              <a:t>하도록 코드를 수정하고자 한다</a:t>
            </a:r>
            <a:r>
              <a:rPr lang="en-US" altLang="ko-KR" sz="1800" dirty="0" smtClean="0">
                <a:ea typeface="굴림" charset="-127"/>
              </a:rPr>
              <a:t>. Client</a:t>
            </a:r>
            <a:r>
              <a:rPr lang="ko-KR" altLang="en-US" sz="1800" dirty="0" smtClean="0">
                <a:ea typeface="굴림" charset="-127"/>
              </a:rPr>
              <a:t>는 수신한 </a:t>
            </a:r>
            <a:r>
              <a:rPr lang="ko-KR" altLang="en-US" sz="1800" dirty="0" err="1" smtClean="0">
                <a:ea typeface="굴림" charset="-127"/>
              </a:rPr>
              <a:t>정수값에</a:t>
            </a:r>
            <a:r>
              <a:rPr lang="ko-KR" altLang="en-US" sz="1800" dirty="0" smtClean="0">
                <a:ea typeface="굴림" charset="-127"/>
              </a:rPr>
              <a:t> </a:t>
            </a:r>
            <a:r>
              <a:rPr lang="en-US" altLang="ko-KR" sz="1800" dirty="0" smtClean="0">
                <a:ea typeface="굴림" charset="-127"/>
              </a:rPr>
              <a:t>10</a:t>
            </a:r>
            <a:r>
              <a:rPr lang="ko-KR" altLang="en-US" sz="1800" dirty="0" smtClean="0">
                <a:ea typeface="굴림" charset="-127"/>
              </a:rPr>
              <a:t>을 더해서 다시 </a:t>
            </a:r>
            <a:r>
              <a:rPr lang="en-US" altLang="ko-KR" sz="1800" dirty="0" smtClean="0">
                <a:ea typeface="굴림" charset="-127"/>
              </a:rPr>
              <a:t>Server</a:t>
            </a:r>
            <a:r>
              <a:rPr lang="ko-KR" altLang="en-US" sz="1800" dirty="0" smtClean="0">
                <a:ea typeface="굴림" charset="-127"/>
              </a:rPr>
              <a:t>에서 송신하여</a:t>
            </a:r>
            <a:r>
              <a:rPr lang="en-US" altLang="ko-KR" sz="1800" dirty="0" smtClean="0">
                <a:ea typeface="굴림" charset="-127"/>
              </a:rPr>
              <a:t>, </a:t>
            </a:r>
            <a:r>
              <a:rPr lang="ko-KR" altLang="en-US" sz="1800" dirty="0" smtClean="0">
                <a:ea typeface="굴림" charset="-127"/>
              </a:rPr>
              <a:t>아래의 실행 결과가 나오도록 프로그램을 </a:t>
            </a:r>
            <a:r>
              <a:rPr lang="ko-KR" altLang="en-US" sz="1800" dirty="0" err="1" smtClean="0">
                <a:ea typeface="굴림" charset="-127"/>
              </a:rPr>
              <a:t>수정하시오</a:t>
            </a:r>
            <a:r>
              <a:rPr lang="en-US" altLang="ko-KR" sz="1800" dirty="0" smtClean="0">
                <a:ea typeface="굴림" charset="-127"/>
              </a:rPr>
              <a:t>. </a:t>
            </a:r>
            <a:r>
              <a:rPr lang="ko-KR" altLang="en-US" sz="1800" dirty="0" smtClean="0">
                <a:ea typeface="굴림" charset="-127"/>
              </a:rPr>
              <a:t>그리고 수정된 소스 코드와 실행 결과 이미지를 제출하시오</a:t>
            </a:r>
            <a:r>
              <a:rPr lang="en-US" altLang="ko-KR" sz="1800" dirty="0" smtClean="0">
                <a:ea typeface="굴림" charset="-127"/>
              </a:rPr>
              <a:t>. </a:t>
            </a:r>
          </a:p>
          <a:p>
            <a:r>
              <a:rPr lang="ko-KR" altLang="en-US" sz="1600" dirty="0">
                <a:solidFill>
                  <a:srgbClr val="FF0000"/>
                </a:solidFill>
                <a:ea typeface="굴림" charset="-127"/>
              </a:rPr>
              <a:t>유의사항</a:t>
            </a:r>
            <a:r>
              <a:rPr lang="en-US" altLang="ko-KR" sz="1600" dirty="0">
                <a:solidFill>
                  <a:srgbClr val="FF0000"/>
                </a:solidFill>
                <a:ea typeface="굴림" charset="-127"/>
              </a:rPr>
              <a:t>: </a:t>
            </a:r>
            <a:r>
              <a:rPr lang="ko-KR" altLang="en-US" sz="1600" dirty="0" smtClean="0">
                <a:solidFill>
                  <a:srgbClr val="FF0000"/>
                </a:solidFill>
                <a:ea typeface="굴림" charset="-127"/>
              </a:rPr>
              <a:t>양방향 통신을 하지 </a:t>
            </a:r>
            <a:r>
              <a:rPr lang="ko-KR" altLang="en-US" sz="1600" dirty="0">
                <a:solidFill>
                  <a:srgbClr val="FF0000"/>
                </a:solidFill>
                <a:ea typeface="굴림" charset="-127"/>
              </a:rPr>
              <a:t>않고</a:t>
            </a:r>
            <a:r>
              <a:rPr lang="en-US" altLang="ko-KR" sz="1600" dirty="0">
                <a:solidFill>
                  <a:srgbClr val="FF0000"/>
                </a:solidFill>
                <a:ea typeface="굴림" charset="-127"/>
              </a:rPr>
              <a:t>, printf() </a:t>
            </a:r>
            <a:r>
              <a:rPr lang="ko-KR" altLang="en-US" sz="1600" dirty="0" err="1">
                <a:solidFill>
                  <a:srgbClr val="FF0000"/>
                </a:solidFill>
                <a:ea typeface="굴림" charset="-127"/>
              </a:rPr>
              <a:t>함수만을</a:t>
            </a:r>
            <a:r>
              <a:rPr lang="ko-KR" altLang="en-US" sz="1600" dirty="0">
                <a:solidFill>
                  <a:srgbClr val="FF0000"/>
                </a:solidFill>
                <a:ea typeface="굴림" charset="-127"/>
              </a:rPr>
              <a:t> 수정하여 출력 결과를 조작하면 </a:t>
            </a:r>
            <a:r>
              <a:rPr lang="ko-KR" altLang="en-US" sz="1600" u="sng" dirty="0">
                <a:solidFill>
                  <a:srgbClr val="FF0000"/>
                </a:solidFill>
                <a:ea typeface="굴림" charset="-127"/>
              </a:rPr>
              <a:t>부정행위 처리</a:t>
            </a:r>
            <a:r>
              <a:rPr lang="ko-KR" altLang="en-US" sz="1600" dirty="0">
                <a:solidFill>
                  <a:srgbClr val="FF0000"/>
                </a:solidFill>
                <a:ea typeface="굴림" charset="-127"/>
              </a:rPr>
              <a:t>됩니다</a:t>
            </a:r>
            <a:r>
              <a:rPr lang="en-US" altLang="ko-KR" sz="1600" dirty="0">
                <a:solidFill>
                  <a:srgbClr val="FF0000"/>
                </a:solidFill>
                <a:ea typeface="굴림" charset="-127"/>
              </a:rPr>
              <a:t>.</a:t>
            </a:r>
          </a:p>
          <a:p>
            <a:endParaRPr lang="en-US" altLang="ko-KR" sz="1800" dirty="0">
              <a:ea typeface="굴림" charset="-127"/>
            </a:endParaRPr>
          </a:p>
          <a:p>
            <a:endParaRPr lang="en-US" altLang="ko-KR" sz="1800" dirty="0">
              <a:ea typeface="굴림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2523803"/>
            <a:ext cx="8318379" cy="40307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018999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581775"/>
            <a:ext cx="2133600" cy="1365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fld id="{CEAC0A6D-D9C9-4415-BEC6-954D21A77C24}" type="slidenum">
              <a:rPr lang="en-US" altLang="ko-KR" sz="1600" smtClean="0">
                <a:solidFill>
                  <a:schemeClr val="tx1"/>
                </a:solidFill>
                <a:latin typeface="Times New Roman" pitchFamily="18" charset="0"/>
                <a:ea typeface="HY견고딕" pitchFamily="18" charset="-127"/>
              </a:rPr>
              <a:pPr eaLnBrk="1" hangingPunct="1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600" smtClean="0">
              <a:solidFill>
                <a:schemeClr val="tx1"/>
              </a:solidFill>
              <a:latin typeface="Times New Roman" pitchFamily="18" charset="0"/>
              <a:ea typeface="HY견고딕" pitchFamily="18" charset="-127"/>
            </a:endParaRPr>
          </a:p>
        </p:txBody>
      </p:sp>
      <p:sp>
        <p:nvSpPr>
          <p:cNvPr id="249858" name="Rectangle 2"/>
          <p:cNvSpPr>
            <a:spLocks noChangeArrowheads="1"/>
          </p:cNvSpPr>
          <p:nvPr/>
        </p:nvSpPr>
        <p:spPr bwMode="auto">
          <a:xfrm>
            <a:off x="323528" y="116632"/>
            <a:ext cx="8220075" cy="651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1pPr>
            <a:lvl2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2pPr>
            <a:lvl3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3pPr>
            <a:lvl4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4pPr>
            <a:lvl5pPr eaLnBrk="0" hangingPunct="0"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Arial Black" pitchFamily="34" charset="0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ko-KR" altLang="en-US" sz="40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실습 과제 </a:t>
            </a:r>
            <a:r>
              <a:rPr lang="en-US" altLang="ko-KR" sz="40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2 (</a:t>
            </a:r>
            <a:r>
              <a:rPr lang="ko-KR" altLang="en-US" sz="40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선택 과제</a:t>
            </a:r>
            <a:r>
              <a:rPr lang="en-US" altLang="ko-KR" sz="40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굴림" charset="-127"/>
              </a:rPr>
              <a:t>)</a:t>
            </a:r>
            <a:endParaRPr lang="ko-KR" altLang="en-US" sz="4000" dirty="0" smtClean="0">
              <a:effectLst>
                <a:outerShdw blurRad="38100" dist="38100" dir="2700000" algn="tl">
                  <a:srgbClr val="C0C0C0"/>
                </a:outerShdw>
              </a:effectLst>
              <a:ea typeface="굴림" charset="-127"/>
            </a:endParaRPr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179512" y="1196752"/>
            <a:ext cx="8726784" cy="114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2286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Ø"/>
              <a:defRPr kumimoji="1" sz="2000" b="1">
                <a:solidFill>
                  <a:srgbClr val="00276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kumimoji="1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  <a:defRPr kumimoji="1" sz="16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14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sz="1800" dirty="0" smtClean="0">
                <a:ea typeface="굴림" charset="-127"/>
              </a:rPr>
              <a:t>소켓은 한 개로도 양방향 통신을 수행할 수 있다</a:t>
            </a:r>
            <a:r>
              <a:rPr lang="en-US" altLang="ko-KR" sz="1800" dirty="0" smtClean="0">
                <a:ea typeface="굴림" charset="-127"/>
              </a:rPr>
              <a:t>. </a:t>
            </a:r>
            <a:r>
              <a:rPr lang="ko-KR" altLang="en-US" sz="1800" dirty="0" smtClean="0">
                <a:ea typeface="굴림" charset="-127"/>
              </a:rPr>
              <a:t>이 과제에서는</a:t>
            </a:r>
            <a:r>
              <a:rPr lang="en-US" altLang="ko-KR" sz="1800" dirty="0" smtClean="0">
                <a:ea typeface="굴림" charset="-127"/>
              </a:rPr>
              <a:t> </a:t>
            </a:r>
            <a:r>
              <a:rPr lang="ko-KR" altLang="en-US" sz="1800" dirty="0" smtClean="0">
                <a:ea typeface="굴림" charset="-127"/>
              </a:rPr>
              <a:t>소켓을 추가로 한 개 더 연결하여</a:t>
            </a:r>
            <a:r>
              <a:rPr lang="en-US" altLang="ko-KR" sz="1800" dirty="0" smtClean="0">
                <a:ea typeface="굴림" charset="-127"/>
              </a:rPr>
              <a:t>, 2</a:t>
            </a:r>
            <a:r>
              <a:rPr lang="ko-KR" altLang="en-US" sz="1800" dirty="0" smtClean="0">
                <a:ea typeface="굴림" charset="-127"/>
              </a:rPr>
              <a:t>개의 소켓을 이용하여 실습 과제 </a:t>
            </a:r>
            <a:r>
              <a:rPr lang="en-US" altLang="ko-KR" sz="1800" dirty="0" smtClean="0">
                <a:ea typeface="굴림" charset="-127"/>
              </a:rPr>
              <a:t>1</a:t>
            </a:r>
            <a:r>
              <a:rPr lang="ko-KR" altLang="en-US" sz="1800" dirty="0" smtClean="0">
                <a:ea typeface="굴림" charset="-127"/>
              </a:rPr>
              <a:t>과 동일한 실행 결과가 나오도록 프로그램을 </a:t>
            </a:r>
            <a:r>
              <a:rPr lang="ko-KR" altLang="en-US" sz="1800" dirty="0" err="1" smtClean="0">
                <a:ea typeface="굴림" charset="-127"/>
              </a:rPr>
              <a:t>수정하시오</a:t>
            </a:r>
            <a:r>
              <a:rPr lang="en-US" altLang="ko-KR" sz="1800" dirty="0" smtClean="0">
                <a:ea typeface="굴림" charset="-127"/>
              </a:rPr>
              <a:t>. </a:t>
            </a:r>
            <a:endParaRPr lang="en-US" altLang="ko-KR" sz="1800" dirty="0">
              <a:ea typeface="굴림" charset="-127"/>
            </a:endParaRPr>
          </a:p>
          <a:p>
            <a:endParaRPr lang="en-US" altLang="ko-KR" sz="1800" dirty="0"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0736460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chtropolis">
  <a:themeElements>
    <a:clrScheme name="silly_mi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illy_mime">
      <a:majorFont>
        <a:latin typeface="Franklin Gothic Medium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illy_mi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lly_mim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lly_mim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techtropolis</Template>
  <TotalTime>2322</TotalTime>
  <Words>557</Words>
  <Application>Microsoft Office PowerPoint</Application>
  <PresentationFormat>화면 슬라이드 쇼(4:3)</PresentationFormat>
  <Paragraphs>103</Paragraphs>
  <Slides>10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5" baseType="lpstr">
      <vt:lpstr>HY견고딕</vt:lpstr>
      <vt:lpstr>굴림</vt:lpstr>
      <vt:lpstr>나눔고딕</vt:lpstr>
      <vt:lpstr>나눔고딕 ExtraBold</vt:lpstr>
      <vt:lpstr>맑은 고딕</vt:lpstr>
      <vt:lpstr>Arial</vt:lpstr>
      <vt:lpstr>Arial Black</vt:lpstr>
      <vt:lpstr>Calibri Light</vt:lpstr>
      <vt:lpstr>Comic Sans MS</vt:lpstr>
      <vt:lpstr>Franklin Gothic Medium</vt:lpstr>
      <vt:lpstr>Tahoma</vt:lpstr>
      <vt:lpstr>Times New Roman</vt:lpstr>
      <vt:lpstr>Wingdings</vt:lpstr>
      <vt:lpstr>techtropolis</vt:lpstr>
      <vt:lpstr>Clip</vt:lpstr>
      <vt:lpstr>PowerPoint 프레젠테이션</vt:lpstr>
      <vt:lpstr>소켓 개요</vt:lpstr>
      <vt:lpstr>TCP 소켓 프로그램 개요 (1)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Techtropolis</dc:title>
  <dc:creator>Namil</dc:creator>
  <cp:lastModifiedBy>DDWU</cp:lastModifiedBy>
  <cp:revision>224</cp:revision>
  <dcterms:created xsi:type="dcterms:W3CDTF">2011-06-15T00:21:10Z</dcterms:created>
  <dcterms:modified xsi:type="dcterms:W3CDTF">2023-11-23T12:42:03Z</dcterms:modified>
</cp:coreProperties>
</file>