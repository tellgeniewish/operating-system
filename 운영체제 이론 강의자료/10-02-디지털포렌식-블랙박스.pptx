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" ContentType="video/x-msvide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566" r:id="rId2"/>
    <p:sldId id="559" r:id="rId3"/>
    <p:sldId id="577" r:id="rId4"/>
    <p:sldId id="567" r:id="rId5"/>
    <p:sldId id="561" r:id="rId6"/>
    <p:sldId id="562" r:id="rId7"/>
    <p:sldId id="569" r:id="rId8"/>
    <p:sldId id="570" r:id="rId9"/>
    <p:sldId id="573" r:id="rId10"/>
    <p:sldId id="574" r:id="rId11"/>
    <p:sldId id="564" r:id="rId12"/>
    <p:sldId id="565" r:id="rId13"/>
  </p:sldIdLst>
  <p:sldSz cx="9144000" cy="6858000" type="screen4x3"/>
  <p:notesSz cx="6735763" cy="986948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3" autoAdjust="0"/>
    <p:restoredTop sz="90929"/>
  </p:normalViewPr>
  <p:slideViewPr>
    <p:cSldViewPr>
      <p:cViewPr varScale="1">
        <p:scale>
          <a:sx n="104" d="100"/>
          <a:sy n="104" d="100"/>
        </p:scale>
        <p:origin x="14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fld id="{98EBF245-2882-4DAA-B4FC-51B1EC5089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7291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fld id="{69B3BE40-BF6E-4D11-8B7D-B47A40CA4A5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2048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210489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 smtClean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69278DA5-6357-41AA-A07D-8E1E7CE9576D}" type="slidenum">
              <a:rPr lang="ko-KR" altLang="en-US" sz="1000" smtClean="0">
                <a:latin typeface="Arial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ko-KR" altLang="en-US" sz="100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 smtClean="0"/>
          </a:p>
        </p:txBody>
      </p:sp>
      <p:sp>
        <p:nvSpPr>
          <p:cNvPr id="2253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defTabSz="7620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B6792A5-906E-44BD-A1F9-CB114EC57E4F}" type="slidenum">
              <a:rPr lang="ko-KR" altLang="en-US" sz="1000" smtClean="0">
                <a:latin typeface="Arial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ko-KR" altLang="en-US" sz="100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9425" y="409416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latinLnBrk="0" hangingPunct="1">
              <a:defRPr/>
            </a:pPr>
            <a:endParaRPr lang="ko-KR" altLang="ko-KR" smtClean="0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1557338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latinLnBrk="0" hangingPunct="1">
              <a:defRPr/>
            </a:pPr>
            <a:endParaRPr lang="ko-KR" altLang="ko-KR" smtClean="0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16310" y="1772816"/>
            <a:ext cx="7380287" cy="2160240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47664" y="4725144"/>
            <a:ext cx="6662737" cy="1224136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7F3FE095-BC3A-40D7-9E1E-71A049ED7D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716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719F28DE-1D54-465C-A2F8-4D24E4EF0C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135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C3145F13-BC5B-430B-8B13-A25C0D1D76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977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folHlink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folHlink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8E25CF4-77A4-45C1-ACCB-894CB6737C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avi"/><Relationship Id="rId7" Type="http://schemas.openxmlformats.org/officeDocument/2006/relationships/image" Target="../media/image2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avi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27088" y="1773238"/>
            <a:ext cx="7669212" cy="216058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블랙박스 영상 </a:t>
            </a: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조작 검출 </a:t>
            </a:r>
            <a:r>
              <a:rPr lang="en-US" altLang="ko-K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및 삭제 복구 기법</a:t>
            </a:r>
            <a:endParaRPr lang="ko-KR" alt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741863"/>
          </a:xfrm>
        </p:spPr>
        <p:txBody>
          <a:bodyPr/>
          <a:lstStyle/>
          <a:p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컴퓨터에 남겨진 자료들을 분석</a:t>
            </a:r>
            <a:endParaRPr lang="en-US" altLang="ko-KR" smtClean="0"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200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사법기관에서 </a:t>
            </a:r>
            <a:r>
              <a:rPr lang="ko-KR" altLang="en-US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법적으로 효용성이 있는 데이터</a:t>
            </a: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들을 추출</a:t>
            </a:r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323850" y="476250"/>
            <a:ext cx="8555038" cy="939800"/>
          </a:xfrm>
        </p:spPr>
        <p:txBody>
          <a:bodyPr/>
          <a:lstStyle/>
          <a:p>
            <a:r>
              <a:rPr lang="ko-KR" altLang="en-US" smtClean="0"/>
              <a:t>디지털 포렌식이란</a:t>
            </a:r>
            <a:r>
              <a:rPr lang="en-US" altLang="ko-KR" smtClean="0"/>
              <a:t>?</a:t>
            </a:r>
            <a:endParaRPr lang="ko-KR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블랙박스에서 디지털 포렌식</a:t>
            </a:r>
          </a:p>
        </p:txBody>
      </p:sp>
      <p:sp>
        <p:nvSpPr>
          <p:cNvPr id="8195" name="TextBox 5"/>
          <p:cNvSpPr txBox="1">
            <a:spLocks noChangeArrowheads="1"/>
          </p:cNvSpPr>
          <p:nvPr/>
        </p:nvSpPr>
        <p:spPr bwMode="auto">
          <a:xfrm>
            <a:off x="1547813" y="1700213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b="1">
                <a:latin typeface="맑은 고딕" pitchFamily="50" charset="-127"/>
                <a:ea typeface="맑은 고딕" pitchFamily="50" charset="-127"/>
              </a:rPr>
              <a:t>초록색 신호등</a:t>
            </a:r>
          </a:p>
        </p:txBody>
      </p:sp>
      <p:sp>
        <p:nvSpPr>
          <p:cNvPr id="8196" name="TextBox 6"/>
          <p:cNvSpPr txBox="1">
            <a:spLocks noChangeArrowheads="1"/>
          </p:cNvSpPr>
          <p:nvPr/>
        </p:nvSpPr>
        <p:spPr bwMode="auto">
          <a:xfrm>
            <a:off x="5940425" y="1700213"/>
            <a:ext cx="2160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b="1">
                <a:latin typeface="맑은 고딕" pitchFamily="50" charset="-127"/>
                <a:ea typeface="맑은 고딕" pitchFamily="50" charset="-127"/>
              </a:rPr>
              <a:t>빨간색 신호등</a:t>
            </a:r>
          </a:p>
        </p:txBody>
      </p: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195513" y="5065713"/>
            <a:ext cx="5256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b="1">
                <a:latin typeface="맑은 고딕" pitchFamily="50" charset="-127"/>
                <a:ea typeface="맑은 고딕" pitchFamily="50" charset="-127"/>
              </a:rPr>
              <a:t>조작 시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>
                <a:latin typeface="맑은 고딕" pitchFamily="50" charset="-127"/>
                <a:ea typeface="맑은 고딕" pitchFamily="50" charset="-127"/>
              </a:rPr>
              <a:t>육안으로 구별 어려움</a:t>
            </a:r>
          </a:p>
        </p:txBody>
      </p:sp>
      <p:sp>
        <p:nvSpPr>
          <p:cNvPr id="10" name="오른쪽 화살표 9"/>
          <p:cNvSpPr/>
          <p:nvPr/>
        </p:nvSpPr>
        <p:spPr>
          <a:xfrm>
            <a:off x="1547813" y="5835650"/>
            <a:ext cx="720725" cy="431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srgbClr val="FF0000"/>
              </a:solidFill>
            </a:endParaRPr>
          </a:p>
        </p:txBody>
      </p:sp>
      <p:sp>
        <p:nvSpPr>
          <p:cNvPr id="8199" name="TextBox 10"/>
          <p:cNvSpPr txBox="1">
            <a:spLocks noChangeArrowheads="1"/>
          </p:cNvSpPr>
          <p:nvPr/>
        </p:nvSpPr>
        <p:spPr bwMode="auto">
          <a:xfrm>
            <a:off x="2411413" y="5732463"/>
            <a:ext cx="612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파일 시스템에서의 분석이 필요</a:t>
            </a:r>
          </a:p>
        </p:txBody>
      </p:sp>
      <p:pic>
        <p:nvPicPr>
          <p:cNvPr id="11" name="[mix]신호등 원본.av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577" y="2141215"/>
            <a:ext cx="4480497" cy="2520280"/>
          </a:xfrm>
          <a:prstGeom prst="rect">
            <a:avLst/>
          </a:prstGeom>
        </p:spPr>
      </p:pic>
      <p:pic>
        <p:nvPicPr>
          <p:cNvPr id="12" name="[mix]신호등 조작.avi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29150" y="2133029"/>
            <a:ext cx="4478338" cy="2519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번호판</a:t>
            </a:r>
            <a:r>
              <a:rPr lang="ko-KR" altLang="en-US" b="1" smtClean="0"/>
              <a:t> 조작</a:t>
            </a:r>
          </a:p>
        </p:txBody>
      </p:sp>
      <p:pic>
        <p:nvPicPr>
          <p:cNvPr id="9219" name="[mix]번호판 원본.avi">
            <a:hlinkClick r:id="" action="ppaction://media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735263"/>
            <a:ext cx="446405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Box 8"/>
          <p:cNvSpPr txBox="1">
            <a:spLocks noChangeArrowheads="1"/>
          </p:cNvSpPr>
          <p:nvPr/>
        </p:nvSpPr>
        <p:spPr bwMode="auto">
          <a:xfrm>
            <a:off x="827088" y="2216150"/>
            <a:ext cx="367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번호판 </a:t>
            </a:r>
            <a:r>
              <a:rPr lang="en-US" altLang="ko-KR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42</a:t>
            </a:r>
            <a:r>
              <a:rPr lang="ko-KR" altLang="en-US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너 </a:t>
            </a:r>
            <a:r>
              <a:rPr lang="en-US" altLang="ko-KR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8166</a:t>
            </a:r>
            <a:endParaRPr lang="ko-KR" altLang="en-US" sz="2400" b="1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21" name="TextBox 9"/>
          <p:cNvSpPr txBox="1">
            <a:spLocks noChangeArrowheads="1"/>
          </p:cNvSpPr>
          <p:nvPr/>
        </p:nvSpPr>
        <p:spPr bwMode="auto">
          <a:xfrm>
            <a:off x="5364163" y="2216150"/>
            <a:ext cx="3554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번호판 </a:t>
            </a:r>
            <a:r>
              <a:rPr lang="en-US" altLang="ko-KR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42</a:t>
            </a:r>
            <a:r>
              <a:rPr lang="ko-KR" altLang="en-US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더 </a:t>
            </a:r>
            <a:r>
              <a:rPr lang="en-US" altLang="ko-KR" sz="24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8166</a:t>
            </a:r>
            <a:endParaRPr lang="ko-KR" altLang="en-US" sz="2400" b="1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222" name="[mix]번호판 수정.avi">
            <a:hlinkClick r:id="" action="ppaction://media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736850"/>
            <a:ext cx="44323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751387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ko-KR" altLang="en-US" sz="2400" smtClean="0">
                <a:ea typeface="HY강B" pitchFamily="18" charset="-127"/>
              </a:rPr>
              <a:t>파일 시스템이란</a:t>
            </a:r>
            <a:r>
              <a:rPr lang="en-US" altLang="ko-KR" sz="2400" smtClean="0">
                <a:ea typeface="HY강B" pitchFamily="18" charset="-127"/>
              </a:rPr>
              <a:t>?</a:t>
            </a:r>
          </a:p>
          <a:p>
            <a:pPr lvl="1"/>
            <a:r>
              <a:rPr lang="ko-KR" altLang="en-US" sz="2000" smtClean="0"/>
              <a:t>파일들의 내용 접근과 저장을 위한 구조를 제공</a:t>
            </a:r>
            <a:endParaRPr lang="en-US" altLang="ko-KR" sz="2000" smtClean="0"/>
          </a:p>
          <a:p>
            <a:pPr lvl="1"/>
            <a:r>
              <a:rPr lang="ko-KR" altLang="en-US" sz="2000" smtClean="0"/>
              <a:t>파일 사용을 구조화</a:t>
            </a:r>
            <a:r>
              <a:rPr lang="en-US" altLang="ko-KR" sz="2000" smtClean="0"/>
              <a:t>, </a:t>
            </a:r>
            <a:r>
              <a:rPr lang="ko-KR" altLang="en-US" sz="2000" smtClean="0"/>
              <a:t>디스크 공간을 할당</a:t>
            </a:r>
            <a:r>
              <a:rPr lang="en-US" altLang="ko-KR" sz="2000" smtClean="0"/>
              <a:t>, </a:t>
            </a:r>
            <a:r>
              <a:rPr lang="ko-KR" altLang="en-US" sz="2000" smtClean="0"/>
              <a:t>반납된 공간을 재사용</a:t>
            </a:r>
            <a:r>
              <a:rPr lang="en-US" altLang="ko-KR" sz="2000" smtClean="0"/>
              <a:t>, </a:t>
            </a:r>
            <a:r>
              <a:rPr lang="ko-KR" altLang="en-US" sz="2000" smtClean="0"/>
              <a:t>자료의 위치 추적</a:t>
            </a:r>
            <a:r>
              <a:rPr lang="en-US" altLang="ko-KR" sz="2000" smtClean="0"/>
              <a:t>, </a:t>
            </a:r>
            <a:r>
              <a:rPr lang="ko-KR" altLang="en-US" sz="2000" smtClean="0"/>
              <a:t>운영체제와 연결하는 방법 제공</a:t>
            </a:r>
          </a:p>
        </p:txBody>
      </p:sp>
      <p:sp>
        <p:nvSpPr>
          <p:cNvPr id="102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파일 시스템</a:t>
            </a:r>
          </a:p>
        </p:txBody>
      </p:sp>
      <p:sp>
        <p:nvSpPr>
          <p:cNvPr id="4" name="내용 개체 틀 1"/>
          <p:cNvSpPr txBox="1">
            <a:spLocks/>
          </p:cNvSpPr>
          <p:nvPr/>
        </p:nvSpPr>
        <p:spPr>
          <a:xfrm>
            <a:off x="395288" y="3573463"/>
            <a:ext cx="8229600" cy="287972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rtl="0" eaLnBrk="1" latinLnBrk="1" hangingPunct="1">
              <a:spcBef>
                <a:spcPct val="20000"/>
              </a:spcBef>
              <a:buSzPct val="70000"/>
              <a:buFont typeface="Wingdings"/>
              <a:buChar char=""/>
              <a:defRPr kumimoji="0"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120000"/>
              <a:buFont typeface="Arial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1" hangingPunct="1">
              <a:spcBef>
                <a:spcPct val="20000"/>
              </a:spcBef>
              <a:buClr>
                <a:schemeClr val="tx2"/>
              </a:buClr>
              <a:buSzPct val="120000"/>
              <a:buFont typeface="Arial"/>
              <a:buChar char="•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Char char="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l"/>
              <a:defRPr/>
            </a:pPr>
            <a:r>
              <a:rPr lang="ko-KR" altLang="en-US" sz="2800" b="1" dirty="0" smtClean="0">
                <a:ea typeface="맑은 고딕" pitchFamily="50" charset="-127"/>
              </a:rPr>
              <a:t>파일 시스템의 구조</a:t>
            </a:r>
            <a:endParaRPr lang="en-US" altLang="ko-KR" sz="2800" b="1" dirty="0" smtClean="0">
              <a:ea typeface="맑은 고딕" pitchFamily="50" charset="-127"/>
            </a:endParaRPr>
          </a:p>
          <a:p>
            <a:pPr>
              <a:buFont typeface="Wingdings" pitchFamily="2" charset="2"/>
              <a:buChar char="l"/>
              <a:defRPr/>
            </a:pPr>
            <a:endParaRPr lang="en-US" altLang="ko-KR" sz="2600" dirty="0" smtClean="0">
              <a:latin typeface="Adobe Heiti Std R" pitchFamily="34" charset="-128"/>
              <a:ea typeface="Adobe Heiti Std R" pitchFamily="34" charset="-128"/>
            </a:endParaRPr>
          </a:p>
          <a:p>
            <a:pPr marL="0" indent="0">
              <a:buFont typeface="Wingdings"/>
              <a:buNone/>
              <a:defRPr/>
            </a:pPr>
            <a:endParaRPr lang="en-US" altLang="ko-KR" dirty="0" smtClean="0">
              <a:latin typeface="Adobe Heiti Std R" pitchFamily="34" charset="-128"/>
              <a:ea typeface="Adobe Heiti Std R" pitchFamily="34" charset="-128"/>
            </a:endParaRPr>
          </a:p>
          <a:p>
            <a:pPr>
              <a:buFont typeface="Wingdings" pitchFamily="2" charset="2"/>
              <a:buChar char="l"/>
              <a:defRPr/>
            </a:pPr>
            <a:endParaRPr lang="en-US" altLang="ko-KR" dirty="0" smtClean="0">
              <a:latin typeface="Adobe Heiti Std R" pitchFamily="34" charset="-128"/>
              <a:ea typeface="Adobe Heiti Std R" pitchFamily="34" charset="-128"/>
            </a:endParaRPr>
          </a:p>
          <a:p>
            <a:pPr>
              <a:buFontTx/>
              <a:buChar char="-"/>
              <a:defRPr/>
            </a:pP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사용자가 생성한 파일의 내용은 </a:t>
            </a:r>
            <a:r>
              <a:rPr lang="ko-KR" altLang="en-US" sz="2900" u="sng" dirty="0" smtClean="0">
                <a:solidFill>
                  <a:srgbClr val="0070C0"/>
                </a:solidFill>
                <a:latin typeface="HY강B" pitchFamily="18" charset="-127"/>
                <a:ea typeface="HY강B" pitchFamily="18" charset="-127"/>
              </a:rPr>
              <a:t>데이터 영역</a:t>
            </a: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에 기록</a:t>
            </a:r>
            <a:endParaRPr lang="en-US" altLang="ko-KR" sz="2900" dirty="0" smtClean="0">
              <a:latin typeface="HY강B" pitchFamily="18" charset="-127"/>
              <a:ea typeface="HY강B" pitchFamily="18" charset="-127"/>
            </a:endParaRPr>
          </a:p>
          <a:p>
            <a:pPr>
              <a:buFontTx/>
              <a:buChar char="-"/>
              <a:defRPr/>
            </a:pPr>
            <a:r>
              <a:rPr lang="ko-KR" altLang="en-US" sz="2900" u="sng" dirty="0" smtClean="0">
                <a:solidFill>
                  <a:srgbClr val="0070C0"/>
                </a:solidFill>
                <a:latin typeface="HY강B" pitchFamily="18" charset="-127"/>
                <a:ea typeface="HY강B" pitchFamily="18" charset="-127"/>
              </a:rPr>
              <a:t>메타 영역</a:t>
            </a: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에는 파일 관리를 위한 파일의 이름</a:t>
            </a:r>
            <a:r>
              <a:rPr lang="en-US" altLang="ko-KR" sz="2900" dirty="0" smtClean="0">
                <a:latin typeface="HY강B" pitchFamily="18" charset="-127"/>
                <a:ea typeface="HY강B" pitchFamily="18" charset="-127"/>
              </a:rPr>
              <a:t>, </a:t>
            </a: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위치</a:t>
            </a:r>
            <a:r>
              <a:rPr lang="en-US" altLang="ko-KR" sz="2900" dirty="0" smtClean="0">
                <a:latin typeface="HY강B" pitchFamily="18" charset="-127"/>
                <a:ea typeface="HY강B" pitchFamily="18" charset="-127"/>
              </a:rPr>
              <a:t>, </a:t>
            </a: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크기</a:t>
            </a:r>
            <a:r>
              <a:rPr lang="en-US" altLang="ko-KR" sz="2900" dirty="0" smtClean="0">
                <a:latin typeface="HY강B" pitchFamily="18" charset="-127"/>
                <a:ea typeface="HY강B" pitchFamily="18" charset="-127"/>
              </a:rPr>
              <a:t>, </a:t>
            </a:r>
            <a:r>
              <a:rPr lang="ko-KR" altLang="en-US" sz="2900" dirty="0" smtClean="0">
                <a:latin typeface="HY강B" pitchFamily="18" charset="-127"/>
                <a:ea typeface="HY강B" pitchFamily="18" charset="-127"/>
              </a:rPr>
              <a:t>시간 정보 등이 기록</a:t>
            </a:r>
            <a:endParaRPr lang="en-US" altLang="ko-KR" sz="2900" dirty="0" smtClean="0">
              <a:latin typeface="HY강B" pitchFamily="18" charset="-127"/>
              <a:ea typeface="HY강B" pitchFamily="18" charset="-127"/>
            </a:endParaRPr>
          </a:p>
          <a:p>
            <a:pPr>
              <a:defRPr/>
            </a:pPr>
            <a:endParaRPr lang="ko-KR" altLang="en-US" dirty="0">
              <a:latin typeface="Adobe Heiti Std R" pitchFamily="34" charset="-128"/>
            </a:endParaRPr>
          </a:p>
        </p:txBody>
      </p:sp>
      <p:grpSp>
        <p:nvGrpSpPr>
          <p:cNvPr id="10245" name="그룹 4"/>
          <p:cNvGrpSpPr>
            <a:grpSpLocks/>
          </p:cNvGrpSpPr>
          <p:nvPr/>
        </p:nvGrpSpPr>
        <p:grpSpPr bwMode="auto">
          <a:xfrm>
            <a:off x="755650" y="4221163"/>
            <a:ext cx="7704138" cy="576262"/>
            <a:chOff x="971600" y="3789040"/>
            <a:chExt cx="7704856" cy="576064"/>
          </a:xfrm>
        </p:grpSpPr>
        <p:sp>
          <p:nvSpPr>
            <p:cNvPr id="6" name="직사각형 5"/>
            <p:cNvSpPr/>
            <p:nvPr/>
          </p:nvSpPr>
          <p:spPr>
            <a:xfrm>
              <a:off x="971600" y="3789040"/>
              <a:ext cx="1728949" cy="576064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247" name="TextBox 7"/>
            <p:cNvSpPr txBox="1">
              <a:spLocks noChangeArrowheads="1"/>
            </p:cNvSpPr>
            <p:nvPr/>
          </p:nvSpPr>
          <p:spPr bwMode="auto">
            <a:xfrm>
              <a:off x="4788024" y="3892406"/>
              <a:ext cx="14401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q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0858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4287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w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17716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/>
                <a:t>Data Area</a:t>
              </a:r>
              <a:endParaRPr lang="ko-KR" altLang="en-US" sz="180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00549" y="3789040"/>
              <a:ext cx="5975907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249" name="TextBox 6"/>
            <p:cNvSpPr txBox="1">
              <a:spLocks noChangeArrowheads="1"/>
            </p:cNvSpPr>
            <p:nvPr/>
          </p:nvSpPr>
          <p:spPr bwMode="auto">
            <a:xfrm>
              <a:off x="1198833" y="3883148"/>
              <a:ext cx="14401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q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0858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4287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w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1771650" indent="-22860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/>
                <a:t>Meta Area</a:t>
              </a:r>
              <a:endParaRPr lang="ko-KR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FAT32 </a:t>
            </a:r>
            <a:r>
              <a:rPr lang="ko-KR" altLang="en-US" smtClean="0"/>
              <a:t>파일 시스템 구조</a:t>
            </a:r>
          </a:p>
        </p:txBody>
      </p:sp>
      <p:pic>
        <p:nvPicPr>
          <p:cNvPr id="11267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068638"/>
            <a:ext cx="401637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내용 개체 틀 6"/>
          <p:cNvSpPr>
            <a:spLocks noGrp="1"/>
          </p:cNvSpPr>
          <p:nvPr>
            <p:ph idx="1"/>
          </p:nvPr>
        </p:nvSpPr>
        <p:spPr>
          <a:xfrm>
            <a:off x="179388" y="1484313"/>
            <a:ext cx="8750300" cy="1657350"/>
          </a:xfrm>
        </p:spPr>
        <p:txBody>
          <a:bodyPr/>
          <a:lstStyle/>
          <a:p>
            <a:r>
              <a:rPr lang="en-US" altLang="ko-KR" sz="2400" smtClean="0"/>
              <a:t> </a:t>
            </a:r>
            <a:r>
              <a:rPr lang="ko-KR" altLang="en-US" sz="2400" smtClean="0"/>
              <a:t>부트 섹터 </a:t>
            </a:r>
            <a:r>
              <a:rPr lang="en-US" altLang="ko-KR" sz="2400" smtClean="0"/>
              <a:t>&amp; </a:t>
            </a:r>
            <a:r>
              <a:rPr lang="ko-KR" altLang="en-US" sz="2400" smtClean="0"/>
              <a:t>예약 영역</a:t>
            </a:r>
            <a:endParaRPr lang="en-US" altLang="ko-KR" sz="2400" smtClean="0"/>
          </a:p>
          <a:p>
            <a:pPr lvl="1"/>
            <a:r>
              <a:rPr lang="ko-KR" altLang="en-US" sz="2000" smtClean="0"/>
              <a:t>부트섹터에</a:t>
            </a:r>
            <a:r>
              <a:rPr lang="en-US" altLang="ko-KR" sz="2000" smtClean="0"/>
              <a:t> </a:t>
            </a:r>
            <a:r>
              <a:rPr lang="ko-KR" altLang="en-US" sz="2000" smtClean="0"/>
              <a:t>파티션의 정보를 기록</a:t>
            </a:r>
            <a:r>
              <a:rPr lang="en-US" altLang="ko-KR" sz="2000" smtClean="0"/>
              <a:t>: </a:t>
            </a:r>
            <a:r>
              <a:rPr lang="ko-KR" altLang="en-US" sz="2000" smtClean="0"/>
              <a:t>파일시스템 종류 구분 지원</a:t>
            </a:r>
            <a:endParaRPr lang="en-US" altLang="ko-KR" sz="2000" smtClean="0"/>
          </a:p>
          <a:p>
            <a:pPr lvl="1"/>
            <a:r>
              <a:rPr lang="ko-KR" altLang="en-US" sz="2000" smtClean="0"/>
              <a:t>예약 영역 크기</a:t>
            </a:r>
            <a:r>
              <a:rPr lang="en-US" altLang="ko-KR" sz="2000" smtClean="0"/>
              <a:t>, </a:t>
            </a:r>
            <a:r>
              <a:rPr lang="ko-KR" altLang="en-US" sz="2000" smtClean="0"/>
              <a:t>섹터의 바이트 수</a:t>
            </a:r>
            <a:r>
              <a:rPr lang="en-US" altLang="ko-KR" sz="2000" smtClean="0"/>
              <a:t>, </a:t>
            </a:r>
            <a:r>
              <a:rPr lang="ko-KR" altLang="en-US" sz="2000" smtClean="0"/>
              <a:t>클러스터 당 섹터 수</a:t>
            </a:r>
            <a:r>
              <a:rPr lang="en-US" altLang="ko-KR" sz="2000" smtClean="0"/>
              <a:t>, FAT </a:t>
            </a:r>
            <a:r>
              <a:rPr lang="ko-KR" altLang="en-US" sz="2000" smtClean="0"/>
              <a:t>섹터 수 등</a:t>
            </a:r>
            <a:r>
              <a:rPr lang="en-US" altLang="ko-KR" sz="2000" smtClean="0"/>
              <a:t>.</a:t>
            </a:r>
          </a:p>
          <a:p>
            <a:pPr lvl="1"/>
            <a:endParaRPr lang="en-US" altLang="ko-KR" sz="2000" smtClean="0"/>
          </a:p>
        </p:txBody>
      </p:sp>
      <p:sp>
        <p:nvSpPr>
          <p:cNvPr id="8" name="내용 개체 틀 6"/>
          <p:cNvSpPr txBox="1">
            <a:spLocks/>
          </p:cNvSpPr>
          <p:nvPr/>
        </p:nvSpPr>
        <p:spPr bwMode="auto">
          <a:xfrm>
            <a:off x="179388" y="3068638"/>
            <a:ext cx="47529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858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4287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7716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288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ko-KR" sz="2400" kern="0" dirty="0" smtClean="0"/>
              <a:t> </a:t>
            </a:r>
            <a:r>
              <a:rPr lang="en-US" altLang="ko-KR" kern="0" dirty="0" smtClean="0"/>
              <a:t>FAT </a:t>
            </a:r>
            <a:r>
              <a:rPr lang="ko-KR" altLang="en-US" kern="0" dirty="0" smtClean="0"/>
              <a:t>영역</a:t>
            </a:r>
            <a:endParaRPr lang="en-US" altLang="ko-KR" kern="0" dirty="0" smtClean="0"/>
          </a:p>
          <a:p>
            <a:pPr lvl="1">
              <a:defRPr/>
            </a:pPr>
            <a:r>
              <a:rPr lang="ko-KR" altLang="en-US" sz="2000" kern="0" dirty="0" smtClean="0"/>
              <a:t>각 파일이 저장된 클러스터들의 인덱스를 체인 형식으로 기록</a:t>
            </a:r>
            <a:endParaRPr lang="en-US" altLang="ko-KR" sz="2000" kern="0" dirty="0" smtClean="0"/>
          </a:p>
          <a:p>
            <a:pPr lvl="1">
              <a:defRPr/>
            </a:pPr>
            <a:endParaRPr lang="en-US" altLang="ko-KR" sz="2000" kern="0" dirty="0"/>
          </a:p>
          <a:p>
            <a:pPr>
              <a:defRPr/>
            </a:pPr>
            <a:r>
              <a:rPr lang="en-US" altLang="ko-KR" sz="2400" kern="0" dirty="0" smtClean="0"/>
              <a:t> </a:t>
            </a:r>
            <a:r>
              <a:rPr lang="ko-KR" altLang="en-US" sz="2400" kern="0" dirty="0" smtClean="0"/>
              <a:t>루트 </a:t>
            </a:r>
            <a:r>
              <a:rPr lang="ko-KR" altLang="en-US" sz="2400" kern="0" dirty="0" err="1" smtClean="0"/>
              <a:t>디렉토리</a:t>
            </a:r>
            <a:r>
              <a:rPr lang="ko-KR" altLang="en-US" sz="2400" kern="0" dirty="0" smtClean="0"/>
              <a:t> 및 데이터 영역</a:t>
            </a:r>
            <a:endParaRPr lang="en-US" altLang="ko-KR" sz="2400" kern="0" dirty="0"/>
          </a:p>
          <a:p>
            <a:pPr lvl="1">
              <a:defRPr/>
            </a:pPr>
            <a:r>
              <a:rPr lang="ko-KR" altLang="en-US" sz="2000" kern="0" dirty="0" smtClean="0"/>
              <a:t>루트 </a:t>
            </a:r>
            <a:r>
              <a:rPr lang="ko-KR" altLang="en-US" sz="2000" kern="0" dirty="0" err="1" smtClean="0"/>
              <a:t>디렉토리</a:t>
            </a:r>
            <a:r>
              <a:rPr lang="en-US" altLang="ko-KR" sz="2000" kern="0" dirty="0" smtClean="0"/>
              <a:t>: </a:t>
            </a:r>
            <a:r>
              <a:rPr lang="ko-KR" altLang="en-US" sz="2000" kern="0" dirty="0" smtClean="0"/>
              <a:t>파일들과 </a:t>
            </a:r>
            <a:r>
              <a:rPr lang="ko-KR" altLang="en-US" sz="2000" kern="0" dirty="0" err="1" smtClean="0"/>
              <a:t>서브디렉토리들의</a:t>
            </a:r>
            <a:r>
              <a:rPr lang="ko-KR" altLang="en-US" sz="2000" kern="0" dirty="0" smtClean="0"/>
              <a:t> 이름</a:t>
            </a:r>
            <a:r>
              <a:rPr lang="en-US" altLang="ko-KR" sz="2000" kern="0" dirty="0" smtClean="0"/>
              <a:t>, </a:t>
            </a:r>
            <a:r>
              <a:rPr lang="ko-KR" altLang="en-US" sz="2000" kern="0" dirty="0" smtClean="0"/>
              <a:t>생성시간</a:t>
            </a:r>
            <a:r>
              <a:rPr lang="en-US" altLang="ko-KR" sz="2000" kern="0" dirty="0" smtClean="0"/>
              <a:t>, </a:t>
            </a:r>
            <a:r>
              <a:rPr lang="ko-KR" altLang="en-US" sz="2000" kern="0" dirty="0" smtClean="0"/>
              <a:t>수정시간</a:t>
            </a:r>
            <a:r>
              <a:rPr lang="en-US" altLang="ko-KR" sz="2000" kern="0" dirty="0" smtClean="0"/>
              <a:t>, </a:t>
            </a:r>
            <a:r>
              <a:rPr lang="ko-KR" altLang="en-US" sz="2000" kern="0" dirty="0" smtClean="0"/>
              <a:t>접근 시간</a:t>
            </a:r>
            <a:r>
              <a:rPr lang="en-US" altLang="ko-KR" sz="2000" kern="0" dirty="0" smtClean="0"/>
              <a:t>, </a:t>
            </a:r>
            <a:r>
              <a:rPr lang="ko-KR" altLang="en-US" sz="2000" kern="0" dirty="0" smtClean="0"/>
              <a:t>저장 위치 기록</a:t>
            </a:r>
            <a:endParaRPr lang="en-US" altLang="ko-KR" sz="2000" kern="0" dirty="0" smtClean="0"/>
          </a:p>
          <a:p>
            <a:pPr lvl="1">
              <a:defRPr/>
            </a:pPr>
            <a:r>
              <a:rPr lang="ko-KR" altLang="en-US" sz="2000" kern="0" dirty="0" smtClean="0"/>
              <a:t>데이터 영역</a:t>
            </a:r>
            <a:r>
              <a:rPr lang="en-US" altLang="ko-KR" sz="2000" kern="0" dirty="0" smtClean="0"/>
              <a:t>: </a:t>
            </a:r>
            <a:r>
              <a:rPr lang="ko-KR" altLang="en-US" sz="2000" kern="0" dirty="0" smtClean="0"/>
              <a:t>클러스터 단위로 파일이나 </a:t>
            </a:r>
            <a:r>
              <a:rPr lang="ko-KR" altLang="en-US" sz="2000" kern="0" dirty="0" err="1" smtClean="0"/>
              <a:t>서브디렉토리</a:t>
            </a:r>
            <a:r>
              <a:rPr lang="ko-KR" altLang="en-US" sz="2000" kern="0" dirty="0" smtClean="0"/>
              <a:t> 정보 저장</a:t>
            </a:r>
            <a:endParaRPr lang="ko-KR" altLang="en-US" sz="20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79388" y="3068638"/>
            <a:ext cx="8750300" cy="3600450"/>
          </a:xfrm>
        </p:spPr>
        <p:txBody>
          <a:bodyPr/>
          <a:lstStyle/>
          <a:p>
            <a:pPr>
              <a:defRPr/>
            </a:pP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디렉토리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엔트리</a:t>
            </a:r>
            <a:r>
              <a:rPr lang="ko-KR" altLang="en-US" sz="2400" dirty="0" smtClean="0"/>
              <a:t> 항목 정보</a:t>
            </a:r>
            <a:endParaRPr lang="en-US" altLang="ko-KR" sz="2400" dirty="0" smtClean="0"/>
          </a:p>
          <a:p>
            <a:pPr lvl="1">
              <a:defRPr/>
            </a:pPr>
            <a:r>
              <a:rPr lang="ko-KR" altLang="en-US" sz="2000" dirty="0" smtClean="0"/>
              <a:t>파일 이름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삭제 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첫 바이트를 </a:t>
            </a:r>
            <a:r>
              <a:rPr lang="en-US" altLang="ko-KR" sz="2000" dirty="0" smtClean="0"/>
              <a:t>0xE5</a:t>
            </a:r>
            <a:r>
              <a:rPr lang="ko-KR" altLang="en-US" sz="2000" dirty="0" smtClean="0"/>
              <a:t>로 수정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2000" dirty="0" smtClean="0"/>
              <a:t>속성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파일 종류 및 보호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2000" dirty="0" smtClean="0"/>
              <a:t>생성 시간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날짜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2000" dirty="0" smtClean="0"/>
              <a:t>마지막 접근 시간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2000" dirty="0" smtClean="0"/>
              <a:t>저장된 첫 번째 클러스터 </a:t>
            </a:r>
            <a:endParaRPr lang="en-US" altLang="ko-KR" sz="20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ko-KR" altLang="en-US" sz="2000" dirty="0" smtClean="0"/>
              <a:t>   인덱스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2000" dirty="0" smtClean="0"/>
              <a:t>파일을 저장한 클러스터 개수</a:t>
            </a:r>
            <a:endParaRPr lang="en-US" altLang="ko-KR" sz="2000" dirty="0" smtClean="0"/>
          </a:p>
          <a:p>
            <a:pPr lvl="1">
              <a:defRPr/>
            </a:pPr>
            <a:endParaRPr lang="en-US" altLang="ko-KR" sz="2000" dirty="0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66"/>
          <a:stretch>
            <a:fillRect/>
          </a:stretch>
        </p:blipFill>
        <p:spPr bwMode="auto">
          <a:xfrm>
            <a:off x="468313" y="860425"/>
            <a:ext cx="7904162" cy="19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2" name="제목 2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ko-KR" altLang="en-US" smtClean="0"/>
              <a:t>디렉토리 엔트리 구조</a:t>
            </a:r>
          </a:p>
        </p:txBody>
      </p:sp>
      <p:pic>
        <p:nvPicPr>
          <p:cNvPr id="12293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005263"/>
            <a:ext cx="4416425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2FDFA3-DB26-44D3-B00D-A9C825B62B37}" type="slidenum">
              <a:rPr lang="en-US" altLang="ko-KR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13315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19075"/>
            <a:ext cx="5616575" cy="659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7"/>
          <p:cNvSpPr txBox="1">
            <a:spLocks noChangeArrowheads="1"/>
          </p:cNvSpPr>
          <p:nvPr/>
        </p:nvSpPr>
        <p:spPr bwMode="auto">
          <a:xfrm>
            <a:off x="979488" y="3181350"/>
            <a:ext cx="1492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>
                <a:latin typeface="Times New Roman" pitchFamily="18" charset="0"/>
              </a:rPr>
              <a:t>삭제 파일</a:t>
            </a:r>
            <a:endParaRPr lang="en-US" altLang="ko-KR" sz="2400">
              <a:latin typeface="Times New Roman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>
                <a:latin typeface="Times New Roman" pitchFamily="18" charset="0"/>
              </a:rPr>
              <a:t>복구 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2616200"/>
            <a:ext cx="3894137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내용 개체 틀 2"/>
          <p:cNvSpPr>
            <a:spLocks noGrp="1"/>
          </p:cNvSpPr>
          <p:nvPr>
            <p:ph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r>
              <a:rPr lang="ko-KR" altLang="en-US" sz="2400" smtClean="0"/>
              <a:t> 비할당 영역을 이용한 동영상 위∙변조 탐지</a:t>
            </a:r>
            <a:endParaRPr lang="en-US" altLang="ko-KR" sz="2400" smtClean="0"/>
          </a:p>
          <a:p>
            <a:pPr lvl="1"/>
            <a:r>
              <a:rPr lang="ko-KR" altLang="en-US" sz="2000" smtClean="0"/>
              <a:t> 재인코딩을 하지 않고 동영상 내 일부 프레임을 삭제하는 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영상파일에 대한 탐지</a:t>
            </a:r>
            <a:endParaRPr lang="en-US" altLang="ko-KR" sz="2000" smtClean="0"/>
          </a:p>
          <a:p>
            <a:pPr lvl="3"/>
            <a:endParaRPr lang="en-US" altLang="ko-KR" smtClean="0"/>
          </a:p>
          <a:p>
            <a:pPr lvl="1"/>
            <a:r>
              <a:rPr lang="ko-KR" altLang="en-US" sz="2000" smtClean="0"/>
              <a:t>재인코딩을 하지 않으므로 프레임들의 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바이너리 코드는 변경되지 않음</a:t>
            </a:r>
            <a:endParaRPr lang="en-US" altLang="ko-KR" sz="2000" smtClean="0"/>
          </a:p>
          <a:p>
            <a:pPr lvl="2"/>
            <a:endParaRPr lang="en-US" altLang="ko-KR" smtClean="0"/>
          </a:p>
          <a:p>
            <a:pPr lvl="1"/>
            <a:r>
              <a:rPr lang="ko-KR" altLang="en-US" sz="2000" smtClean="0"/>
              <a:t>영상저장장치에서의 고의적인 영상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변조에 대한 탐지를 비할당 영역에 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남아있는 정보를 이용하여 탐지</a:t>
            </a:r>
            <a:endParaRPr lang="en-US" altLang="ko-KR" sz="2000" smtClean="0"/>
          </a:p>
          <a:p>
            <a:pPr lvl="2"/>
            <a:endParaRPr lang="en-US" altLang="ko-KR" smtClean="0"/>
          </a:p>
          <a:p>
            <a:pPr lvl="1"/>
            <a:r>
              <a:rPr lang="ko-KR" altLang="en-US" sz="2000" smtClean="0"/>
              <a:t>기계 오작동에 의한 영상기록 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오류 여부를 확인</a:t>
            </a:r>
            <a:endParaRPr lang="en-US" altLang="ko-KR" sz="2000" smtClean="0"/>
          </a:p>
        </p:txBody>
      </p:sp>
      <p:sp>
        <p:nvSpPr>
          <p:cNvPr id="1434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잔상을 이용한 영상 위∙변조 탐지</a:t>
            </a:r>
            <a:endParaRPr lang="en-US" altLang="ko-KR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09625" y="6373813"/>
            <a:ext cx="1905000" cy="457200"/>
          </a:xfrm>
        </p:spPr>
        <p:txBody>
          <a:bodyPr/>
          <a:lstStyle/>
          <a:p>
            <a:pPr algn="l">
              <a:defRPr/>
            </a:pPr>
            <a:fld id="{34A4AC04-6DF6-4601-A484-37EE165E14F9}" type="slidenum">
              <a:rPr lang="en-US" altLang="ko-KR" smtClean="0">
                <a:solidFill>
                  <a:schemeClr val="folHlink"/>
                </a:solidFill>
              </a:rPr>
              <a:pPr algn="l">
                <a:defRPr/>
              </a:pPr>
              <a:t>9</a:t>
            </a:fld>
            <a:endParaRPr lang="en-US" altLang="ko-KR" dirty="0">
              <a:solidFill>
                <a:schemeClr val="folHlink"/>
              </a:solidFill>
            </a:endParaRPr>
          </a:p>
        </p:txBody>
      </p:sp>
      <p:sp>
        <p:nvSpPr>
          <p:cNvPr id="14342" name="AutoShape 2" descr="http://sixflow.net/osx86/files/attach/images/8680/309/001/ea4f5c9c5dcd9847b94dabed14a050b9.jp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184150" y="160338"/>
            <a:ext cx="8786813" cy="1143000"/>
          </a:xfrm>
        </p:spPr>
        <p:txBody>
          <a:bodyPr/>
          <a:lstStyle/>
          <a:p>
            <a:r>
              <a:rPr lang="ko-KR" altLang="en-US" smtClean="0"/>
              <a:t>동작 예</a:t>
            </a:r>
            <a:endParaRPr lang="en-US" altLang="ko-KR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09625" y="6373813"/>
            <a:ext cx="1905000" cy="457200"/>
          </a:xfrm>
        </p:spPr>
        <p:txBody>
          <a:bodyPr/>
          <a:lstStyle/>
          <a:p>
            <a:pPr algn="l">
              <a:defRPr/>
            </a:pPr>
            <a:fld id="{54605813-BCB1-4F19-8FA1-B6C6CF7088B8}" type="slidenum">
              <a:rPr lang="en-US" altLang="ko-KR" smtClean="0">
                <a:solidFill>
                  <a:schemeClr val="folHlink"/>
                </a:solidFill>
              </a:rPr>
              <a:pPr algn="l">
                <a:defRPr/>
              </a:pPr>
              <a:t>10</a:t>
            </a:fld>
            <a:endParaRPr lang="en-US" altLang="ko-KR" dirty="0">
              <a:solidFill>
                <a:schemeClr val="folHlink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638" y="126841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en-US" altLang="ko-KR" sz="2400" dirty="0"/>
              <a:t>Integrity Verification upon </a:t>
            </a:r>
            <a:r>
              <a:rPr lang="en-US" altLang="ko-KR" sz="2400" dirty="0" smtClean="0"/>
              <a:t>AVI </a:t>
            </a:r>
            <a:r>
              <a:rPr lang="en-US" altLang="ko-KR" sz="2400" dirty="0"/>
              <a:t>Video </a:t>
            </a:r>
            <a:r>
              <a:rPr lang="en-US" altLang="ko-KR" sz="2400" dirty="0" smtClean="0"/>
              <a:t>Files</a:t>
            </a:r>
          </a:p>
          <a:p>
            <a:pPr lvl="1">
              <a:defRPr/>
            </a:pPr>
            <a:r>
              <a:rPr lang="en-US" altLang="ko-KR" sz="2000" dirty="0" smtClean="0"/>
              <a:t>1</a:t>
            </a:r>
            <a:r>
              <a:rPr lang="ko-KR" altLang="en-US" sz="2000" dirty="0" smtClean="0"/>
              <a:t>단계</a:t>
            </a:r>
            <a:endParaRPr lang="en-US" altLang="ko-KR" sz="2000" dirty="0" smtClean="0"/>
          </a:p>
          <a:p>
            <a:pPr lvl="2">
              <a:defRPr/>
            </a:pPr>
            <a:r>
              <a:rPr lang="en-US" altLang="ko-KR" sz="1800" dirty="0" err="1" smtClean="0"/>
              <a:t>비할당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영역에서</a:t>
            </a:r>
            <a:r>
              <a:rPr lang="en-US" altLang="ko-KR" sz="1800" dirty="0" smtClean="0"/>
              <a:t> ‘idx1’을 </a:t>
            </a:r>
            <a:r>
              <a:rPr lang="en-US" altLang="ko-KR" sz="1800" dirty="0" err="1" smtClean="0"/>
              <a:t>탐색</a:t>
            </a:r>
            <a:endParaRPr lang="en-US" altLang="ko-KR" sz="1800" dirty="0" smtClean="0"/>
          </a:p>
          <a:p>
            <a:pPr lvl="2">
              <a:defRPr/>
            </a:pPr>
            <a:r>
              <a:rPr lang="ko-KR" altLang="en-US" sz="1800" dirty="0" smtClean="0"/>
              <a:t>할당의 역순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offset의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숫자가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작아지는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방향</a:t>
            </a:r>
            <a:r>
              <a:rPr lang="en-US" altLang="ko-KR" sz="1800" dirty="0" smtClean="0"/>
              <a:t>)</a:t>
            </a:r>
            <a:r>
              <a:rPr lang="en-US" altLang="ko-KR" sz="1800" dirty="0" err="1" smtClean="0"/>
              <a:t>으로</a:t>
            </a:r>
            <a:r>
              <a:rPr lang="en-US" altLang="ko-KR" sz="1800" dirty="0" smtClean="0"/>
              <a:t> </a:t>
            </a:r>
            <a:br>
              <a:rPr lang="en-US" altLang="ko-KR" sz="1800" dirty="0" smtClean="0"/>
            </a:br>
            <a:r>
              <a:rPr lang="en-US" altLang="ko-KR" sz="1800" dirty="0" smtClean="0"/>
              <a:t>‘00dc’(</a:t>
            </a:r>
            <a:r>
              <a:rPr lang="en-US" altLang="ko-KR" sz="1800" dirty="0" err="1" smtClean="0"/>
              <a:t>비디</a:t>
            </a:r>
            <a:r>
              <a:rPr lang="ko-KR" altLang="en-US" sz="1800" dirty="0" smtClean="0"/>
              <a:t>오 프레임</a:t>
            </a:r>
            <a:r>
              <a:rPr lang="en-US" altLang="ko-KR" sz="1800" dirty="0" smtClean="0"/>
              <a:t>)을 </a:t>
            </a:r>
            <a:r>
              <a:rPr lang="en-US" altLang="ko-KR" sz="1800" dirty="0" err="1" smtClean="0"/>
              <a:t>찾고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프레임의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바이너리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데이터를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수집</a:t>
            </a:r>
            <a:r>
              <a:rPr lang="en-US" altLang="ko-KR" sz="1800" dirty="0" smtClean="0"/>
              <a:t> 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 smtClean="0"/>
              <a:t>2</a:t>
            </a:r>
            <a:r>
              <a:rPr lang="ko-KR" altLang="en-US" sz="2000" dirty="0" smtClean="0"/>
              <a:t>단계</a:t>
            </a:r>
            <a:endParaRPr lang="en-US" altLang="ko-KR" sz="2000" dirty="0" smtClean="0"/>
          </a:p>
          <a:p>
            <a:pPr lvl="2">
              <a:defRPr/>
            </a:pPr>
            <a:r>
              <a:rPr lang="en-US" altLang="ko-KR" sz="1800" dirty="0" err="1" smtClean="0"/>
              <a:t>할당</a:t>
            </a:r>
            <a:r>
              <a:rPr lang="en-US" altLang="ko-KR" sz="1800" dirty="0" smtClean="0"/>
              <a:t> </a:t>
            </a:r>
            <a:r>
              <a:rPr lang="en-US" altLang="ko-KR" sz="1800" dirty="0" err="1"/>
              <a:t>영역에서</a:t>
            </a:r>
            <a:r>
              <a:rPr lang="en-US" altLang="ko-KR" sz="1800" dirty="0"/>
              <a:t> ‘idx1’을 </a:t>
            </a:r>
            <a:r>
              <a:rPr lang="ko-KR" altLang="en-US" sz="1800" dirty="0" smtClean="0"/>
              <a:t>탐색</a:t>
            </a:r>
            <a:endParaRPr lang="en-US" altLang="ko-KR" sz="1800" dirty="0" smtClean="0"/>
          </a:p>
          <a:p>
            <a:pPr lvl="2">
              <a:defRPr/>
            </a:pPr>
            <a:r>
              <a:rPr lang="en-US" altLang="ko-KR" sz="1800" dirty="0" smtClean="0"/>
              <a:t>1 </a:t>
            </a:r>
            <a:r>
              <a:rPr lang="en-US" altLang="ko-KR" sz="1800" dirty="0" err="1" smtClean="0"/>
              <a:t>페이즈와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같이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할당영역에서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err="1" smtClean="0"/>
              <a:t>비디오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프레임을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찾고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데이터를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err="1" smtClean="0"/>
              <a:t>수집</a:t>
            </a:r>
            <a:endParaRPr lang="en-US" altLang="ko-KR" sz="1800" dirty="0" smtClean="0"/>
          </a:p>
          <a:p>
            <a:pPr lvl="1">
              <a:defRPr/>
            </a:pPr>
            <a:r>
              <a:rPr lang="en-US" altLang="ko-KR" sz="2000" dirty="0" smtClean="0"/>
              <a:t>3</a:t>
            </a:r>
            <a:r>
              <a:rPr lang="ko-KR" altLang="en-US" sz="2000" dirty="0" smtClean="0"/>
              <a:t>단계</a:t>
            </a:r>
            <a:endParaRPr lang="en-US" altLang="ko-KR" sz="2000" dirty="0" smtClean="0"/>
          </a:p>
          <a:p>
            <a:pPr lvl="2">
              <a:defRPr/>
            </a:pPr>
            <a:r>
              <a:rPr lang="en-US" altLang="ko-KR" sz="1800" dirty="0" smtClean="0"/>
              <a:t>1</a:t>
            </a:r>
            <a:r>
              <a:rPr lang="ko-KR" altLang="en-US" sz="1800" dirty="0" smtClean="0"/>
              <a:t>단계</a:t>
            </a:r>
            <a:r>
              <a:rPr lang="en-US" altLang="ko-KR" sz="1800" dirty="0" smtClean="0"/>
              <a:t>와 2</a:t>
            </a:r>
            <a:r>
              <a:rPr lang="ko-KR" altLang="en-US" sz="1800" dirty="0" smtClean="0"/>
              <a:t>단계</a:t>
            </a:r>
            <a:r>
              <a:rPr lang="en-US" altLang="ko-KR" sz="1800" dirty="0" err="1" smtClean="0"/>
              <a:t>에서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수집된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err="1" smtClean="0"/>
              <a:t>데이터를</a:t>
            </a: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비교</a:t>
            </a:r>
            <a:endParaRPr lang="en-US" altLang="ko-KR" sz="1800" dirty="0" smtClean="0"/>
          </a:p>
          <a:p>
            <a:pPr lvl="2">
              <a:defRPr/>
            </a:pPr>
            <a:endParaRPr lang="en-US" altLang="ko-KR" sz="1800" dirty="0" smtClean="0"/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2400" dirty="0" smtClean="0"/>
          </a:p>
        </p:txBody>
      </p:sp>
      <p:sp>
        <p:nvSpPr>
          <p:cNvPr id="15365" name="AutoShape 2" descr="http://sixflow.net/osx86/files/attach/images/8680/309/001/ea4f5c9c5dcd9847b94dabed14a050b9.jp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itchFamily="18" charset="0"/>
            </a:endParaRPr>
          </a:p>
        </p:txBody>
      </p:sp>
      <p:pic>
        <p:nvPicPr>
          <p:cNvPr id="153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3063875"/>
            <a:ext cx="3943350" cy="37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동영상 파일</a:t>
            </a:r>
            <a:r>
              <a:rPr lang="en-US" altLang="ko-KR" smtClean="0"/>
              <a:t>: AVI </a:t>
            </a:r>
            <a:r>
              <a:rPr lang="ko-KR" altLang="en-US" smtClean="0"/>
              <a:t>구조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1524000"/>
            <a:ext cx="2998787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3B883F-7CF8-413C-8B31-E8F2F3DEAEAF}" type="slidenum">
              <a:rPr lang="en-US" altLang="ko-KR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779838" y="1824038"/>
            <a:ext cx="4895850" cy="3724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sz="2000" b="1">
                <a:latin typeface="+mn-lt"/>
                <a:ea typeface="맑은 고딕" pitchFamily="50" charset="-127"/>
              </a:rPr>
              <a:t>RIFF</a:t>
            </a:r>
            <a:r>
              <a:rPr lang="en-US" altLang="ko-KR" sz="2000">
                <a:latin typeface="+mn-lt"/>
                <a:ea typeface="맑은 고딕" pitchFamily="50" charset="-127"/>
              </a:rPr>
              <a:t> </a:t>
            </a:r>
            <a:r>
              <a:rPr lang="ko-KR" altLang="en-US" sz="2000" dirty="0">
                <a:latin typeface="+mn-lt"/>
                <a:ea typeface="맑은 고딕" pitchFamily="50" charset="-127"/>
              </a:rPr>
              <a:t>헤더</a:t>
            </a:r>
            <a:r>
              <a:rPr lang="en-US" altLang="ko-KR" sz="2000" dirty="0">
                <a:latin typeface="+mn-lt"/>
                <a:ea typeface="맑은 고딕" pitchFamily="50" charset="-127"/>
              </a:rPr>
              <a:t>: AVI </a:t>
            </a:r>
            <a:r>
              <a:rPr lang="ko-KR" altLang="en-US" sz="2000" dirty="0">
                <a:latin typeface="+mn-lt"/>
                <a:ea typeface="맑은 고딕" pitchFamily="50" charset="-127"/>
              </a:rPr>
              <a:t>파일이라고 표시해주는 근거</a:t>
            </a:r>
            <a:r>
              <a:rPr lang="en-US" altLang="ko-KR" sz="2000" dirty="0">
                <a:latin typeface="+mn-lt"/>
                <a:ea typeface="맑은 고딕" pitchFamily="50" charset="-127"/>
              </a:rPr>
              <a:t>. </a:t>
            </a:r>
            <a:r>
              <a:rPr lang="ko-KR" altLang="en-US" sz="2000" dirty="0">
                <a:latin typeface="+mn-lt"/>
                <a:ea typeface="맑은 고딕" pitchFamily="50" charset="-127"/>
              </a:rPr>
              <a:t>파일 크기 등의 정보 포함</a:t>
            </a:r>
            <a:r>
              <a:rPr lang="en-US" altLang="ko-KR" sz="2000" dirty="0">
                <a:latin typeface="+mn-lt"/>
                <a:ea typeface="맑은 고딕" pitchFamily="50" charset="-127"/>
              </a:rPr>
              <a:t>.</a:t>
            </a:r>
          </a:p>
          <a:p>
            <a:pPr>
              <a:defRPr/>
            </a:pPr>
            <a:r>
              <a:rPr lang="en-US" altLang="ko-KR" sz="2000" dirty="0">
                <a:latin typeface="+mn-lt"/>
                <a:ea typeface="맑은 고딕" pitchFamily="50" charset="-127"/>
              </a:rPr>
              <a:t>         </a:t>
            </a:r>
            <a:endParaRPr lang="en-US" altLang="ko-KR" sz="2000" dirty="0">
              <a:latin typeface="+mn-lt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sz="2000" b="1" dirty="0">
                <a:latin typeface="+mn-lt"/>
              </a:rPr>
              <a:t>JUNK</a:t>
            </a:r>
            <a:r>
              <a:rPr lang="en-US" altLang="ko-KR" sz="2000" dirty="0">
                <a:latin typeface="+mn-lt"/>
              </a:rPr>
              <a:t> : CD-ROM</a:t>
            </a:r>
            <a:r>
              <a:rPr lang="ko-KR" altLang="en-US" sz="2000" dirty="0">
                <a:latin typeface="+mn-lt"/>
              </a:rPr>
              <a:t> 재생을 위해  경계에</a:t>
            </a:r>
            <a:r>
              <a:rPr lang="en-US" altLang="ko-KR" sz="2000" dirty="0">
                <a:latin typeface="+mn-lt"/>
              </a:rPr>
              <a:t> JUNK</a:t>
            </a:r>
            <a:r>
              <a:rPr lang="ko-KR" altLang="en-US" sz="2000" dirty="0">
                <a:latin typeface="+mn-lt"/>
              </a:rPr>
              <a:t>를 삽입</a:t>
            </a:r>
            <a:r>
              <a:rPr lang="en-US" altLang="ko-KR" sz="2000" dirty="0">
                <a:latin typeface="+mn-lt"/>
              </a:rPr>
              <a:t>.  </a:t>
            </a:r>
            <a:r>
              <a:rPr lang="ko-KR" altLang="en-US" sz="2000" dirty="0">
                <a:latin typeface="+mn-lt"/>
              </a:rPr>
              <a:t>애플리케이션에서는 </a:t>
            </a:r>
            <a:r>
              <a:rPr lang="en-US" altLang="ko-KR" sz="2000" dirty="0">
                <a:latin typeface="+mn-lt"/>
              </a:rPr>
              <a:t>JUNK</a:t>
            </a:r>
            <a:r>
              <a:rPr lang="ko-KR" altLang="en-US" sz="2000" dirty="0">
                <a:latin typeface="+mn-lt"/>
              </a:rPr>
              <a:t>의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dirty="0">
                <a:latin typeface="+mn-lt"/>
              </a:rPr>
              <a:t>내용을 무시함</a:t>
            </a:r>
            <a:r>
              <a:rPr lang="en-US" altLang="ko-KR" sz="2000" dirty="0">
                <a:latin typeface="+mn-lt"/>
              </a:rPr>
              <a:t>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en-US" altLang="ko-KR" sz="2000" dirty="0">
              <a:latin typeface="+mn-lt"/>
              <a:ea typeface="맑은 고딕" pitchFamily="50" charset="-127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  <a:ea typeface="맑은 고딕" pitchFamily="50" charset="-127"/>
              </a:rPr>
              <a:t>LIST 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ko-KR" sz="1800" dirty="0">
                <a:latin typeface="+mn-lt"/>
                <a:ea typeface="맑은 고딕" pitchFamily="50" charset="-127"/>
              </a:rPr>
              <a:t> </a:t>
            </a:r>
            <a:r>
              <a:rPr lang="en-US" altLang="ko-KR" sz="1800" dirty="0" err="1">
                <a:latin typeface="+mn-lt"/>
                <a:ea typeface="맑은 고딕" pitchFamily="50" charset="-127"/>
              </a:rPr>
              <a:t>hdrl</a:t>
            </a:r>
            <a:r>
              <a:rPr lang="en-US" altLang="ko-KR" sz="1800" dirty="0">
                <a:latin typeface="+mn-lt"/>
                <a:ea typeface="맑은 고딕" pitchFamily="50" charset="-127"/>
              </a:rPr>
              <a:t> : </a:t>
            </a:r>
            <a:r>
              <a:rPr lang="en-US" altLang="ko-KR" sz="1800" dirty="0" err="1">
                <a:latin typeface="+mn-lt"/>
                <a:ea typeface="맑은 고딕" pitchFamily="50" charset="-127"/>
              </a:rPr>
              <a:t>avi</a:t>
            </a:r>
            <a:r>
              <a:rPr lang="ko-KR" altLang="en-US" sz="1800" dirty="0">
                <a:latin typeface="+mn-lt"/>
                <a:ea typeface="맑은 고딕" pitchFamily="50" charset="-127"/>
              </a:rPr>
              <a:t>의 헤더 프레임</a:t>
            </a:r>
            <a:endParaRPr lang="en-US" altLang="ko-KR" sz="1800" dirty="0">
              <a:latin typeface="+mn-lt"/>
              <a:ea typeface="맑은 고딕" pitchFamily="50" charset="-127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ko-KR" sz="1800" dirty="0">
                <a:latin typeface="+mn-lt"/>
                <a:ea typeface="맑은 고딕" pitchFamily="50" charset="-127"/>
              </a:rPr>
              <a:t> info : </a:t>
            </a:r>
            <a:r>
              <a:rPr lang="en-US" altLang="ko-KR" sz="1800" dirty="0" err="1">
                <a:latin typeface="+mn-lt"/>
                <a:ea typeface="맑은 고딕" pitchFamily="50" charset="-127"/>
              </a:rPr>
              <a:t>avi</a:t>
            </a:r>
            <a:r>
              <a:rPr lang="ko-KR" altLang="en-US" sz="1800" dirty="0">
                <a:latin typeface="+mn-lt"/>
                <a:ea typeface="맑은 고딕" pitchFamily="50" charset="-127"/>
              </a:rPr>
              <a:t>의 </a:t>
            </a:r>
            <a:r>
              <a:rPr lang="en-US" altLang="ko-KR" sz="1800" dirty="0">
                <a:latin typeface="+mn-lt"/>
                <a:ea typeface="맑은 고딕" pitchFamily="50" charset="-127"/>
              </a:rPr>
              <a:t>info </a:t>
            </a:r>
            <a:r>
              <a:rPr lang="ko-KR" altLang="en-US" sz="1800" dirty="0">
                <a:latin typeface="+mn-lt"/>
                <a:ea typeface="맑은 고딕" pitchFamily="50" charset="-127"/>
              </a:rPr>
              <a:t>프레임</a:t>
            </a:r>
            <a:endParaRPr lang="en-US" altLang="ko-KR" sz="1800" dirty="0">
              <a:latin typeface="+mn-lt"/>
              <a:ea typeface="맑은 고딕" pitchFamily="50" charset="-127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ko-KR" sz="1800" dirty="0">
                <a:latin typeface="+mn-lt"/>
                <a:ea typeface="맑은 고딕" pitchFamily="50" charset="-127"/>
              </a:rPr>
              <a:t> </a:t>
            </a:r>
            <a:r>
              <a:rPr lang="en-US" altLang="ko-KR" sz="1800" dirty="0" err="1">
                <a:latin typeface="+mn-lt"/>
                <a:ea typeface="맑은 고딕" pitchFamily="50" charset="-127"/>
              </a:rPr>
              <a:t>movi</a:t>
            </a:r>
            <a:r>
              <a:rPr lang="en-US" altLang="ko-KR" sz="1800" dirty="0">
                <a:latin typeface="+mn-lt"/>
                <a:ea typeface="맑은 고딕" pitchFamily="50" charset="-127"/>
              </a:rPr>
              <a:t> : </a:t>
            </a:r>
            <a:r>
              <a:rPr lang="en-US" altLang="ko-KR" sz="1800" dirty="0" err="1">
                <a:latin typeface="+mn-lt"/>
                <a:ea typeface="맑은 고딕" pitchFamily="50" charset="-127"/>
              </a:rPr>
              <a:t>avi</a:t>
            </a:r>
            <a:r>
              <a:rPr lang="ko-KR" altLang="en-US" sz="1800" dirty="0">
                <a:latin typeface="+mn-lt"/>
                <a:ea typeface="맑은 고딕" pitchFamily="50" charset="-127"/>
              </a:rPr>
              <a:t>의 실제 동영상 파일</a:t>
            </a:r>
            <a:r>
              <a:rPr lang="en-US" altLang="ko-KR" sz="1800" dirty="0">
                <a:latin typeface="+mn-lt"/>
                <a:ea typeface="맑은 고딕" pitchFamily="50" charset="-127"/>
              </a:rPr>
              <a:t>. 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ko-KR" sz="1800" dirty="0">
                <a:latin typeface="+mn-lt"/>
                <a:ea typeface="맑은 고딕" pitchFamily="50" charset="-127"/>
              </a:rPr>
              <a:t> idx1 : </a:t>
            </a:r>
            <a:r>
              <a:rPr lang="ko-KR" altLang="en-US" sz="1800" dirty="0">
                <a:latin typeface="+mn-lt"/>
                <a:ea typeface="맑은 고딕" pitchFamily="50" charset="-127"/>
              </a:rPr>
              <a:t>키 프레임들의 저장 위치를 기록</a:t>
            </a:r>
            <a:endParaRPr lang="en-US" altLang="ko-KR" sz="1800" dirty="0">
              <a:latin typeface="+mn-lt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동영상 파일</a:t>
            </a:r>
            <a:r>
              <a:rPr lang="en-US" altLang="ko-KR" smtClean="0"/>
              <a:t>: MP4 </a:t>
            </a:r>
            <a:r>
              <a:rPr lang="ko-KR" altLang="en-US" smtClean="0"/>
              <a:t>구조</a:t>
            </a:r>
          </a:p>
        </p:txBody>
      </p:sp>
      <p:pic>
        <p:nvPicPr>
          <p:cNvPr id="17411" name="Picture 2" descr="C:\Users\JiEun\Desktop\mp4구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276350"/>
            <a:ext cx="2644775" cy="556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3492500" y="2106613"/>
            <a:ext cx="5183188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8585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2875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771650" indent="-2286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itchFamily="34" charset="0"/>
              <a:buChar char="•"/>
            </a:pPr>
            <a:r>
              <a:rPr lang="en-US" altLang="ko-KR" sz="1800"/>
              <a:t> ftyp : </a:t>
            </a:r>
            <a:r>
              <a:rPr lang="ko-KR" altLang="en-US" sz="1800"/>
              <a:t>파일형식과 </a:t>
            </a:r>
            <a:r>
              <a:rPr lang="en-US" altLang="ko-KR" sz="1800"/>
              <a:t>mp4</a:t>
            </a:r>
            <a:r>
              <a:rPr lang="ko-KR" altLang="en-US" sz="1800"/>
              <a:t>의 호환성을 확인하는 </a:t>
            </a:r>
            <a:endParaRPr lang="en-US" altLang="ko-KR" sz="180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/>
              <a:t>          파일 타입 인식자</a:t>
            </a:r>
            <a:endParaRPr lang="en-US" altLang="ko-KR" sz="180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/>
          </a:p>
          <a:p>
            <a:pPr algn="just" eaLnBrk="1" hangingPunct="1">
              <a:spcBef>
                <a:spcPct val="0"/>
              </a:spcBef>
              <a:buClrTx/>
              <a:buFont typeface="Arial" pitchFamily="34" charset="0"/>
              <a:buChar char="•"/>
            </a:pPr>
            <a:r>
              <a:rPr lang="en-US" altLang="ko-KR" sz="1800"/>
              <a:t> moov : </a:t>
            </a:r>
            <a:r>
              <a:rPr lang="ko-KR" altLang="en-US" sz="1800"/>
              <a:t>미디어의 모든 메타 데이터를 저장하는       </a:t>
            </a:r>
            <a:endParaRPr lang="en-US" altLang="ko-KR" sz="180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/>
              <a:t>            무비 박스</a:t>
            </a:r>
            <a:r>
              <a:rPr lang="en-US" altLang="ko-KR" sz="1800"/>
              <a:t>(movie header box)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r>
              <a:rPr lang="en-US" altLang="ko-KR" sz="1800"/>
              <a:t> </a:t>
            </a:r>
            <a:r>
              <a:rPr lang="en-US" altLang="ko-KR" sz="1800" i="1"/>
              <a:t>mvhd</a:t>
            </a:r>
            <a:r>
              <a:rPr lang="en-US" altLang="ko-KR" sz="1800"/>
              <a:t> : </a:t>
            </a:r>
            <a:r>
              <a:rPr lang="ko-KR" altLang="en-US" sz="1800"/>
              <a:t>무비 헤더 박스</a:t>
            </a:r>
            <a:r>
              <a:rPr lang="en-US" altLang="ko-KR" sz="1800"/>
              <a:t>(movie header box)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r>
              <a:rPr lang="en-US" altLang="ko-KR" sz="1800"/>
              <a:t> </a:t>
            </a:r>
            <a:r>
              <a:rPr lang="en-US" altLang="ko-KR" sz="1800" i="1"/>
              <a:t>trak</a:t>
            </a:r>
            <a:r>
              <a:rPr lang="en-US" altLang="ko-KR" sz="1800"/>
              <a:t> : </a:t>
            </a:r>
            <a:r>
              <a:rPr lang="ko-KR" altLang="en-US" sz="1800"/>
              <a:t>오디오와 비디오 메타 정보</a:t>
            </a:r>
            <a:endParaRPr lang="en-US" altLang="ko-KR" sz="1800"/>
          </a:p>
          <a:p>
            <a:pPr lvl="1" algn="just" eaLnBrk="1" hangingPunct="1"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r>
              <a:rPr lang="en-US" altLang="ko-KR" sz="1800"/>
              <a:t> udta : </a:t>
            </a:r>
            <a:r>
              <a:rPr lang="ko-KR" altLang="en-US" sz="1800"/>
              <a:t>사용자 데이터</a:t>
            </a:r>
            <a:r>
              <a:rPr lang="en-US" altLang="ko-KR" sz="1800"/>
              <a:t>, </a:t>
            </a:r>
            <a:r>
              <a:rPr lang="ko-KR" altLang="en-US" sz="1800"/>
              <a:t>저작권 등</a:t>
            </a:r>
            <a:endParaRPr lang="en-US" altLang="ko-KR" sz="1800"/>
          </a:p>
          <a:p>
            <a:pPr lvl="1" algn="just" eaLnBrk="1" hangingPunct="1"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endParaRPr lang="en-US" altLang="ko-KR" sz="1800"/>
          </a:p>
          <a:p>
            <a:pPr algn="just" eaLnBrk="1" hangingPunct="1">
              <a:spcBef>
                <a:spcPct val="0"/>
              </a:spcBef>
              <a:buClrTx/>
              <a:buFont typeface="Arial" pitchFamily="34" charset="0"/>
              <a:buChar char="•"/>
            </a:pPr>
            <a:r>
              <a:rPr lang="en-US" altLang="ko-KR" sz="1800"/>
              <a:t> mdat : </a:t>
            </a:r>
            <a:r>
              <a:rPr lang="ko-KR" altLang="en-US" sz="1800"/>
              <a:t>실제 미디어를 저장하는 공간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AA5397-6E46-46CB-BBF4-EC50373DFB42}" type="slidenum">
              <a:rPr lang="en-US" altLang="ko-KR" smtClean="0"/>
              <a:pPr>
                <a:defRPr/>
              </a:pPr>
              <a:t>12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2202</TotalTime>
  <Words>425</Words>
  <Application>Microsoft Office PowerPoint</Application>
  <PresentationFormat>화면 슬라이드 쇼(4:3)</PresentationFormat>
  <Paragraphs>93</Paragraphs>
  <Slides>12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Adobe Heiti Std R</vt:lpstr>
      <vt:lpstr>HY강B</vt:lpstr>
      <vt:lpstr>굴림</vt:lpstr>
      <vt:lpstr>돋움</vt:lpstr>
      <vt:lpstr>맑은 고딕</vt:lpstr>
      <vt:lpstr>Arial</vt:lpstr>
      <vt:lpstr>Times New Roman</vt:lpstr>
      <vt:lpstr>Wingdings</vt:lpstr>
      <vt:lpstr>직선과 네모</vt:lpstr>
      <vt:lpstr>블랙박스 영상 조작 검출  및 삭제 복구 기법</vt:lpstr>
      <vt:lpstr>디지털 포렌식이란?</vt:lpstr>
      <vt:lpstr>블랙박스에서 디지털 포렌식</vt:lpstr>
      <vt:lpstr>번호판 조작</vt:lpstr>
      <vt:lpstr>파일 시스템</vt:lpstr>
      <vt:lpstr>FAT32 파일 시스템 구조</vt:lpstr>
      <vt:lpstr>디렉토리 엔트리 구조</vt:lpstr>
      <vt:lpstr>PowerPoint 프레젠테이션</vt:lpstr>
      <vt:lpstr>잔상을 이용한 영상 위∙변조 탐지</vt:lpstr>
      <vt:lpstr>동작 예</vt:lpstr>
      <vt:lpstr>동영상 파일: AVI 구조</vt:lpstr>
      <vt:lpstr>동영상 파일: MP4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DDWU</cp:lastModifiedBy>
  <cp:revision>512</cp:revision>
  <cp:lastPrinted>1996-03-06T04:51:07Z</cp:lastPrinted>
  <dcterms:created xsi:type="dcterms:W3CDTF">1996-06-05T03:01:40Z</dcterms:created>
  <dcterms:modified xsi:type="dcterms:W3CDTF">2018-12-06T11:29:31Z</dcterms:modified>
</cp:coreProperties>
</file>