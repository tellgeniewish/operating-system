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6"/>
  </p:notesMasterIdLst>
  <p:sldIdLst>
    <p:sldId id="258" r:id="rId2"/>
    <p:sldId id="259" r:id="rId3"/>
    <p:sldId id="269" r:id="rId4"/>
    <p:sldId id="265" r:id="rId5"/>
  </p:sldIdLst>
  <p:sldSz cx="9144000" cy="6858000" type="screen4x3"/>
  <p:notesSz cx="6858000" cy="91440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sz="2000" kern="1200">
        <a:solidFill>
          <a:schemeClr val="tx1"/>
        </a:solidFill>
        <a:latin typeface="Tahoma" panose="020B0604030504040204" pitchFamily="34" charset="0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00FF"/>
    <a:srgbClr val="CC3300"/>
    <a:srgbClr val="FF99CC"/>
    <a:srgbClr val="00FFFF"/>
    <a:srgbClr val="9966FF"/>
    <a:srgbClr val="CC0099"/>
    <a:srgbClr val="99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978" autoAdjust="0"/>
    <p:restoredTop sz="94604" autoAdjust="0"/>
  </p:normalViewPr>
  <p:slideViewPr>
    <p:cSldViewPr>
      <p:cViewPr varScale="1">
        <p:scale>
          <a:sx n="106" d="100"/>
          <a:sy n="106" d="100"/>
        </p:scale>
        <p:origin x="864" y="5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latinLnBrk="1" hangingPunct="1">
              <a:defRPr kumimoji="1" sz="1200">
                <a:latin typeface="굴림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200">
                <a:latin typeface="굴림" panose="020B0600000101010101" pitchFamily="50" charset="-127"/>
              </a:defRPr>
            </a:lvl1pPr>
          </a:lstStyle>
          <a:p>
            <a:pPr>
              <a:defRPr/>
            </a:pPr>
            <a:fld id="{405B58A3-546C-4AA7-BD9F-5A579A51019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fld id="{42FC30C9-62CA-4490-916C-B6091A8A83BB}" type="slidenum">
              <a:rPr lang="en-US" altLang="ko-KR" sz="1200" smtClean="0">
                <a:latin typeface="굴림" panose="020B0600000101010101" pitchFamily="50" charset="-127"/>
              </a:rPr>
              <a:pPr/>
              <a:t>1</a:t>
            </a:fld>
            <a:endParaRPr lang="en-US" altLang="ko-KR" sz="1200" smtClean="0">
              <a:latin typeface="굴림" panose="020B0600000101010101" pitchFamily="50" charset="-127"/>
            </a:endParaRPr>
          </a:p>
        </p:txBody>
      </p:sp>
      <p:sp>
        <p:nvSpPr>
          <p:cNvPr id="4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fld id="{4AA1A0CE-5672-452E-9514-6B6D16DC13BC}" type="slidenum">
              <a:rPr lang="en-US" altLang="ko-KR" sz="1200" smtClean="0">
                <a:latin typeface="굴림" panose="020B0600000101010101" pitchFamily="50" charset="-127"/>
              </a:rPr>
              <a:pPr/>
              <a:t>2</a:t>
            </a:fld>
            <a:endParaRPr lang="en-US" altLang="ko-KR" sz="1200" smtClean="0">
              <a:latin typeface="굴림" panose="020B0600000101010101" pitchFamily="50" charset="-127"/>
            </a:endParaRPr>
          </a:p>
        </p:txBody>
      </p:sp>
      <p:sp>
        <p:nvSpPr>
          <p:cNvPr id="6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fld id="{18A6F595-936A-474A-A3FF-F6F2D2131A7A}" type="slidenum">
              <a:rPr kumimoji="1" lang="en-US" altLang="ko-KR" sz="1200">
                <a:latin typeface="굴림" panose="020B0600000101010101" pitchFamily="50" charset="-127"/>
              </a:rPr>
              <a:pPr algn="r" eaLnBrk="1" latinLnBrk="1" hangingPunct="1"/>
              <a:t>3</a:t>
            </a:fld>
            <a:endParaRPr kumimoji="1" lang="en-US" altLang="ko-KR" sz="1200">
              <a:latin typeface="굴림" panose="020B0600000101010101" pitchFamily="50" charset="-127"/>
            </a:endParaRPr>
          </a:p>
        </p:txBody>
      </p:sp>
      <p:sp>
        <p:nvSpPr>
          <p:cNvPr id="81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fld id="{2BE6138B-BB9A-459A-946C-7CBE455EBDF6}" type="slidenum">
              <a:rPr lang="en-US" altLang="ko-KR" sz="1200" smtClean="0">
                <a:latin typeface="굴림" panose="020B0600000101010101" pitchFamily="50" charset="-127"/>
              </a:rPr>
              <a:pPr/>
              <a:t>4</a:t>
            </a:fld>
            <a:endParaRPr lang="en-US" altLang="ko-KR" sz="1200" smtClean="0">
              <a:latin typeface="굴림" panose="020B0600000101010101" pitchFamily="50" charset="-127"/>
            </a:endParaRPr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ko-KR" altLang="ko-K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B0BC75-EBC4-4CE5-BCEC-A534C89E02FE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415446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07C3DCA-B292-419E-A3F3-D8A0CD809DB3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531988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A6EAC9D-B1B6-4385-BCFE-BCDCDA432B4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5010835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159609-59C6-4BEF-8B2B-8FA1ABCC9DE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8410634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B667E38-8A23-4FB7-8621-B9E6D16867D8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289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A5A23C1-6DAB-4B97-B16A-1EBDE4726E2C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73511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BCA2D9-E803-4BFC-9109-CB9DF94BA11F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735163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15C0403-E6A9-4A3B-B839-ED175565F3E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4142637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F27BF2B-537D-4150-82A4-A5E02283AD6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9121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01D7511-7C7F-4617-A3A7-30A5E24177A5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51732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0A2F06D-C202-434D-952C-BEE69284E45B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763025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endParaRPr lang="ko-KR" altLang="en-US" noProof="0" smtClean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E6C483-852D-4A94-8F60-360568586B01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721786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027988" y="6400800"/>
            <a:ext cx="887412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1" sz="1400"/>
            </a:lvl1pPr>
          </a:lstStyle>
          <a:p>
            <a:pPr>
              <a:defRPr/>
            </a:pPr>
            <a:fld id="{18DBE31D-9463-46C9-83E0-48D733EC17CA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  <p:sp>
        <p:nvSpPr>
          <p:cNvPr id="1027" name="Rectangle 7"/>
          <p:cNvSpPr>
            <a:spLocks noChangeArrowheads="1"/>
          </p:cNvSpPr>
          <p:nvPr/>
        </p:nvSpPr>
        <p:spPr bwMode="auto">
          <a:xfrm>
            <a:off x="0" y="765175"/>
            <a:ext cx="5791200" cy="36513"/>
          </a:xfrm>
          <a:prstGeom prst="rect">
            <a:avLst/>
          </a:prstGeom>
          <a:gradFill rotWithShape="1">
            <a:gsLst>
              <a:gs pos="0">
                <a:srgbClr val="0000FF"/>
              </a:gs>
              <a:gs pos="100000">
                <a:srgbClr val="CCCCFF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itchFamily="34" charset="0"/>
                <a:ea typeface="굴림" pitchFamily="50" charset="-127"/>
              </a:defRPr>
            </a:lvl9pPr>
          </a:lstStyle>
          <a:p>
            <a:pPr algn="ctr">
              <a:defRPr/>
            </a:pPr>
            <a:endParaRPr lang="ko-KR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4000">
          <a:solidFill>
            <a:schemeClr val="tx2"/>
          </a:solidFill>
          <a:latin typeface="새굴림" pitchFamily="18" charset="-127"/>
          <a:ea typeface="새굴림" pitchFamily="18" charset="-127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kumimoji="1" sz="3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Times New Roman" panose="02020603050405020304" pitchFamily="18" charset="0"/>
        <a:buChar char="–"/>
        <a:defRPr kumimoji="1" sz="26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§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Font typeface="Wingdings" panose="05000000000000000000" pitchFamily="2" charset="2"/>
        <a:buChar char="Ø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1"/>
        </a:buClr>
        <a:buChar char="»"/>
        <a:defRPr kumimoji="1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 bwMode="auto">
          <a:xfrm>
            <a:off x="685800" y="1524000"/>
            <a:ext cx="7772400" cy="2192338"/>
          </a:xfrm>
          <a:solidFill>
            <a:srgbClr val="FFFFFF"/>
          </a:solidFill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>
              <a:defRPr/>
            </a:pPr>
            <a:r>
              <a:rPr lang="ko-KR" altLang="en-US" sz="54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운영체제 </a:t>
            </a:r>
            <a:br>
              <a:rPr lang="ko-KR" altLang="en-US" sz="54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</a:br>
            <a:r>
              <a:rPr lang="ko-KR" altLang="en-US" sz="5400" b="1" smtClean="0">
                <a:effectLst>
                  <a:outerShdw blurRad="38100" dist="38100" dir="2700000" algn="tl">
                    <a:srgbClr val="C0C0C0"/>
                  </a:outerShdw>
                </a:effectLst>
              </a:rPr>
              <a:t>교과목 소개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1258888" y="4292600"/>
            <a:ext cx="6400800" cy="115252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ko-KR" altLang="en-US" sz="2500" smtClean="0"/>
              <a:t>이완연</a:t>
            </a:r>
          </a:p>
          <a:p>
            <a:pPr eaLnBrk="1" hangingPunct="1">
              <a:lnSpc>
                <a:spcPct val="90000"/>
              </a:lnSpc>
            </a:pPr>
            <a:r>
              <a:rPr lang="ko-KR" altLang="en-US" sz="2500" smtClean="0"/>
              <a:t>동덕여자대학교 컴퓨터학과</a:t>
            </a:r>
            <a:endParaRPr lang="en-US" altLang="ko-KR" sz="250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fld id="{7C15414D-4882-417B-9D79-488C7DD4F236}" type="slidenum">
              <a:rPr lang="en-US" altLang="ko-KR" sz="1400" smtClean="0"/>
              <a:pPr/>
              <a:t>2</a:t>
            </a:fld>
            <a:endParaRPr lang="en-US" altLang="ko-KR" sz="1400" smtClean="0"/>
          </a:p>
        </p:txBody>
      </p:sp>
      <p:sp>
        <p:nvSpPr>
          <p:cNvPr id="5123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5888"/>
            <a:ext cx="8280400" cy="61277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mtClean="0"/>
              <a:t>과목 개요 </a:t>
            </a:r>
            <a:r>
              <a:rPr lang="en-US" altLang="ko-KR" smtClean="0"/>
              <a:t>(1)</a:t>
            </a:r>
          </a:p>
        </p:txBody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908050"/>
            <a:ext cx="8496300" cy="57610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80000"/>
              </a:lnSpc>
            </a:pPr>
            <a:r>
              <a:rPr lang="ko-KR" altLang="en-US" sz="2400" dirty="0" err="1" smtClean="0"/>
              <a:t>수강대상</a:t>
            </a:r>
            <a:endParaRPr lang="en-US" altLang="ko-KR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ko-KR" altLang="en-US" sz="1800" dirty="0" smtClean="0"/>
              <a:t>선수과목</a:t>
            </a:r>
            <a:r>
              <a:rPr lang="en-US" altLang="ko-KR" sz="1800" dirty="0" smtClean="0"/>
              <a:t>: </a:t>
            </a:r>
            <a:r>
              <a:rPr lang="ko-KR" altLang="en-US" sz="1800" dirty="0" smtClean="0">
                <a:solidFill>
                  <a:srgbClr val="FF0000"/>
                </a:solidFill>
              </a:rPr>
              <a:t>컴퓨터프로그래밍 </a:t>
            </a:r>
            <a:r>
              <a:rPr lang="en-US" altLang="ko-KR" sz="1800" dirty="0" smtClean="0">
                <a:solidFill>
                  <a:srgbClr val="FF0000"/>
                </a:solidFill>
              </a:rPr>
              <a:t>(C </a:t>
            </a:r>
            <a:r>
              <a:rPr lang="ko-KR" altLang="en-US" sz="1800" dirty="0" smtClean="0">
                <a:solidFill>
                  <a:srgbClr val="FF0000"/>
                </a:solidFill>
              </a:rPr>
              <a:t>언어 프로그램</a:t>
            </a:r>
            <a:r>
              <a:rPr lang="en-US" altLang="ko-KR" sz="1800" dirty="0" smtClean="0">
                <a:solidFill>
                  <a:srgbClr val="FF0000"/>
                </a:solidFill>
              </a:rPr>
              <a:t>)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 dirty="0" smtClean="0"/>
              <a:t>컴퓨터학과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학년 </a:t>
            </a:r>
            <a:r>
              <a:rPr lang="en-US" altLang="ko-KR" sz="1800" dirty="0" smtClean="0"/>
              <a:t>2</a:t>
            </a:r>
            <a:r>
              <a:rPr lang="ko-KR" altLang="en-US" sz="1800" dirty="0" smtClean="0"/>
              <a:t>학기 </a:t>
            </a:r>
            <a:endParaRPr lang="en-US" altLang="ko-KR" sz="1800" dirty="0" smtClean="0"/>
          </a:p>
          <a:p>
            <a:pPr lvl="1" eaLnBrk="1" hangingPunct="1">
              <a:lnSpc>
                <a:spcPct val="80000"/>
              </a:lnSpc>
            </a:pPr>
            <a:endParaRPr lang="en-US" altLang="ko-KR" sz="1600" dirty="0" smtClean="0"/>
          </a:p>
          <a:p>
            <a:pPr eaLnBrk="1" hangingPunct="1">
              <a:lnSpc>
                <a:spcPct val="80000"/>
              </a:lnSpc>
            </a:pPr>
            <a:r>
              <a:rPr lang="ko-KR" altLang="en-US" sz="2400" dirty="0" err="1" smtClean="0"/>
              <a:t>강의내용</a:t>
            </a:r>
            <a:endParaRPr lang="ko-KR" altLang="en-US" sz="2400" dirty="0" smtClean="0"/>
          </a:p>
          <a:p>
            <a:pPr lvl="1" eaLnBrk="1" hangingPunct="1">
              <a:lnSpc>
                <a:spcPct val="80000"/>
              </a:lnSpc>
            </a:pPr>
            <a:r>
              <a:rPr lang="ko-KR" altLang="en-US" sz="1800" dirty="0" smtClean="0"/>
              <a:t>운영체제에 연관된 이론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1800" dirty="0" smtClean="0"/>
              <a:t>리눅스 운영체제 사용법 실습 과제 </a:t>
            </a:r>
            <a:r>
              <a:rPr lang="en-US" altLang="ko-KR" sz="1800" dirty="0" smtClean="0"/>
              <a:t>(</a:t>
            </a:r>
            <a:r>
              <a:rPr lang="ko-KR" altLang="en-US" sz="1800" dirty="0" smtClean="0"/>
              <a:t>장소</a:t>
            </a:r>
            <a:r>
              <a:rPr lang="en-US" altLang="ko-KR" sz="1800" dirty="0" smtClean="0"/>
              <a:t>: </a:t>
            </a:r>
            <a:r>
              <a:rPr lang="ko-KR" altLang="en-US" sz="1800" dirty="0" smtClean="0"/>
              <a:t>인</a:t>
            </a:r>
            <a:r>
              <a:rPr lang="en-US" altLang="ko-KR" sz="1800" dirty="0" smtClean="0"/>
              <a:t>B301)</a:t>
            </a:r>
            <a:endParaRPr lang="ko-KR" altLang="en-US" sz="1800" dirty="0" smtClean="0"/>
          </a:p>
          <a:p>
            <a:pPr lvl="1" eaLnBrk="1" hangingPunct="1">
              <a:lnSpc>
                <a:spcPct val="80000"/>
              </a:lnSpc>
            </a:pPr>
            <a:endParaRPr lang="en-US" altLang="ko-KR" sz="1400" dirty="0" smtClean="0">
              <a:latin typeface="굴림" panose="020B0600000101010101" pitchFamily="50" charset="-127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2400" dirty="0" smtClean="0"/>
              <a:t>평가항목</a:t>
            </a:r>
            <a:endParaRPr lang="en-US" altLang="ko-KR" sz="2000" dirty="0" smtClean="0"/>
          </a:p>
          <a:p>
            <a:pPr lvl="1" eaLnBrk="1" hangingPunct="1">
              <a:lnSpc>
                <a:spcPct val="80000"/>
              </a:lnSpc>
            </a:pPr>
            <a:r>
              <a:rPr lang="en-US" altLang="ko-KR" sz="2000" dirty="0" smtClean="0"/>
              <a:t>1</a:t>
            </a:r>
            <a:r>
              <a:rPr lang="ko-KR" altLang="en-US" sz="2000" dirty="0" smtClean="0"/>
              <a:t>분반</a:t>
            </a:r>
            <a:r>
              <a:rPr lang="en-US" altLang="ko-KR" sz="2000" dirty="0" smtClean="0"/>
              <a:t>,</a:t>
            </a:r>
            <a:r>
              <a:rPr lang="ko-KR" altLang="en-US" sz="2000" dirty="0" smtClean="0"/>
              <a:t> </a:t>
            </a:r>
            <a:r>
              <a:rPr lang="en-US" altLang="ko-KR" sz="2000" dirty="0" smtClean="0"/>
              <a:t>2</a:t>
            </a:r>
            <a:r>
              <a:rPr lang="ko-KR" altLang="en-US" sz="2000" dirty="0" smtClean="0"/>
              <a:t>분반</a:t>
            </a:r>
            <a:r>
              <a:rPr lang="en-US" altLang="ko-KR" sz="2000" dirty="0" smtClean="0"/>
              <a:t>, 3</a:t>
            </a:r>
            <a:r>
              <a:rPr lang="ko-KR" altLang="en-US" sz="2000" dirty="0" smtClean="0"/>
              <a:t>분반 통합 성적 평가 </a:t>
            </a:r>
            <a:endParaRPr lang="en-US" altLang="ko-KR" sz="2000" dirty="0" smtClean="0"/>
          </a:p>
          <a:p>
            <a:pPr lvl="1" eaLnBrk="1" hangingPunct="1">
              <a:lnSpc>
                <a:spcPct val="80000"/>
              </a:lnSpc>
            </a:pPr>
            <a:r>
              <a:rPr lang="ko-KR" altLang="en-US" sz="2000" dirty="0" smtClean="0"/>
              <a:t>필기시험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중간</a:t>
            </a:r>
            <a:r>
              <a:rPr lang="en-US" altLang="ko-KR" sz="2000" dirty="0" smtClean="0"/>
              <a:t>(30%) + </a:t>
            </a:r>
            <a:r>
              <a:rPr lang="ko-KR" altLang="en-US" sz="2000" dirty="0" smtClean="0"/>
              <a:t>기말</a:t>
            </a:r>
            <a:r>
              <a:rPr lang="en-US" altLang="ko-KR" sz="2000" dirty="0" smtClean="0"/>
              <a:t>(30%) = 60%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2000" dirty="0" smtClean="0"/>
              <a:t>과제물 </a:t>
            </a:r>
            <a:r>
              <a:rPr lang="en-US" altLang="ko-KR" sz="2000" dirty="0" smtClean="0"/>
              <a:t>+ </a:t>
            </a:r>
            <a:r>
              <a:rPr lang="ko-KR" altLang="en-US" sz="2000" dirty="0" err="1" smtClean="0"/>
              <a:t>수업참여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약 </a:t>
            </a:r>
            <a:r>
              <a:rPr lang="en-US" altLang="ko-KR" sz="2000" dirty="0" smtClean="0"/>
              <a:t>30%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온라인 과제 제출시에 부정 행위가 적발되면 마이너스 감점 처리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</a:t>
            </a:r>
          </a:p>
          <a:p>
            <a:pPr lvl="2" eaLnBrk="1" hangingPunct="1">
              <a:lnSpc>
                <a:spcPct val="80000"/>
              </a:lnSpc>
            </a:pP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미완성 제출시에 반드시 제목 또는 서두에 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미완성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 </a:t>
            </a: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또는 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‘</a:t>
            </a: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부분 제출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’ </a:t>
            </a: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단어를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 </a:t>
            </a: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명시할 것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</a:t>
            </a:r>
            <a:r>
              <a:rPr lang="ko-KR" altLang="en-US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명시 안하면 감점 처리</a:t>
            </a:r>
            <a:r>
              <a:rPr lang="en-US" altLang="ko-KR" sz="1800" dirty="0" smtClean="0">
                <a:solidFill>
                  <a:srgbClr val="FF0000"/>
                </a:solidFill>
                <a:latin typeface="굴림" panose="020B0600000101010101" pitchFamily="50" charset="-127"/>
                <a:ea typeface="굴림" panose="020B0600000101010101" pitchFamily="50" charset="-127"/>
              </a:rPr>
              <a:t>.  </a:t>
            </a:r>
            <a:endParaRPr lang="en-US" altLang="ko-KR" sz="1800" dirty="0" smtClean="0"/>
          </a:p>
          <a:p>
            <a:pPr lvl="1" eaLnBrk="1" hangingPunct="1">
              <a:lnSpc>
                <a:spcPct val="80000"/>
              </a:lnSpc>
            </a:pPr>
            <a:r>
              <a:rPr lang="ko-KR" altLang="en-US" sz="2000" dirty="0" smtClean="0"/>
              <a:t>출석</a:t>
            </a:r>
            <a:r>
              <a:rPr lang="en-US" altLang="ko-KR" sz="2000" dirty="0" smtClean="0"/>
              <a:t>: </a:t>
            </a:r>
            <a:r>
              <a:rPr lang="ko-KR" altLang="en-US" sz="2000" dirty="0" smtClean="0"/>
              <a:t>약 </a:t>
            </a:r>
            <a:r>
              <a:rPr lang="en-US" altLang="ko-KR" sz="2000" dirty="0" smtClean="0"/>
              <a:t>10%</a:t>
            </a:r>
          </a:p>
          <a:p>
            <a:pPr lvl="2" eaLnBrk="1" hangingPunct="1">
              <a:lnSpc>
                <a:spcPct val="80000"/>
              </a:lnSpc>
            </a:pPr>
            <a:r>
              <a:rPr lang="en-US" altLang="ko-KR" sz="1800" dirty="0" smtClean="0"/>
              <a:t>6</a:t>
            </a:r>
            <a:r>
              <a:rPr lang="ko-KR" altLang="en-US" sz="1800" dirty="0" smtClean="0"/>
              <a:t>교시 초과 결석 시에 </a:t>
            </a:r>
            <a:r>
              <a:rPr lang="en-US" altLang="ko-KR" sz="1800" dirty="0" smtClean="0"/>
              <a:t>F </a:t>
            </a:r>
            <a:r>
              <a:rPr lang="ko-KR" altLang="en-US" sz="1800" dirty="0" smtClean="0"/>
              <a:t>학점 처리</a:t>
            </a:r>
            <a:endParaRPr lang="en-US" altLang="ko-KR" sz="1800" dirty="0" smtClean="0"/>
          </a:p>
          <a:p>
            <a:pPr lvl="2" eaLnBrk="1" hangingPunct="1">
              <a:lnSpc>
                <a:spcPct val="80000"/>
              </a:lnSpc>
            </a:pPr>
            <a:r>
              <a:rPr lang="ko-KR" altLang="en-US" sz="1800" dirty="0" smtClean="0"/>
              <a:t>지각 </a:t>
            </a:r>
            <a:r>
              <a:rPr lang="en-US" altLang="ko-KR" sz="1800" dirty="0" smtClean="0"/>
              <a:t>3</a:t>
            </a:r>
            <a:r>
              <a:rPr lang="ko-KR" altLang="en-US" sz="1800" dirty="0" smtClean="0"/>
              <a:t>회 </a:t>
            </a:r>
            <a:r>
              <a:rPr lang="ko-KR" altLang="en-US" sz="1800" dirty="0" smtClean="0"/>
              <a:t>감점 </a:t>
            </a:r>
            <a:r>
              <a:rPr lang="en-US" altLang="ko-KR" sz="1800" dirty="0" smtClean="0"/>
              <a:t>= </a:t>
            </a:r>
            <a:r>
              <a:rPr lang="ko-KR" altLang="en-US" sz="1800" dirty="0" smtClean="0"/>
              <a:t>결석 </a:t>
            </a:r>
            <a:r>
              <a:rPr lang="en-US" altLang="ko-KR" sz="1800" dirty="0" smtClean="0"/>
              <a:t>1</a:t>
            </a:r>
            <a:r>
              <a:rPr lang="ko-KR" altLang="en-US" sz="1800" dirty="0" smtClean="0"/>
              <a:t>회 감점</a:t>
            </a:r>
            <a:endParaRPr lang="en-US" altLang="ko-KR" sz="1800" dirty="0" smtClean="0"/>
          </a:p>
          <a:p>
            <a:pPr lvl="2" eaLnBrk="1" hangingPunct="1">
              <a:lnSpc>
                <a:spcPct val="80000"/>
              </a:lnSpc>
            </a:pPr>
            <a:r>
              <a:rPr lang="ko-KR" altLang="en-US" sz="1800" dirty="0" err="1" smtClean="0"/>
              <a:t>해당분반</a:t>
            </a:r>
            <a:r>
              <a:rPr lang="ko-KR" altLang="en-US" sz="1800" dirty="0" smtClean="0"/>
              <a:t> 결석하고 </a:t>
            </a:r>
            <a:r>
              <a:rPr lang="ko-KR" altLang="en-US" sz="1800" dirty="0" err="1" smtClean="0"/>
              <a:t>타분반</a:t>
            </a:r>
            <a:r>
              <a:rPr lang="ko-KR" altLang="en-US" sz="1800" dirty="0" smtClean="0"/>
              <a:t> 대체 출석 인정 안됨</a:t>
            </a:r>
            <a:endParaRPr lang="en-US" altLang="ko-KR" sz="1800" dirty="0" smtClean="0"/>
          </a:p>
          <a:p>
            <a:pPr lvl="2" eaLnBrk="1" hangingPunct="1">
              <a:lnSpc>
                <a:spcPct val="80000"/>
              </a:lnSpc>
            </a:pPr>
            <a:endParaRPr lang="en-US" altLang="ko-KR" sz="1800" dirty="0" smtClean="0">
              <a:solidFill>
                <a:srgbClr val="FF0000"/>
              </a:solidFill>
            </a:endParaRPr>
          </a:p>
          <a:p>
            <a:pPr lvl="2" eaLnBrk="1" hangingPunct="1">
              <a:lnSpc>
                <a:spcPct val="80000"/>
              </a:lnSpc>
            </a:pPr>
            <a:endParaRPr lang="en-US" altLang="ko-KR" sz="18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슬라이드 번호 개체 틀 3"/>
          <p:cNvSpPr txBox="1">
            <a:spLocks noGrp="1"/>
          </p:cNvSpPr>
          <p:nvPr/>
        </p:nvSpPr>
        <p:spPr bwMode="auto">
          <a:xfrm>
            <a:off x="8027988" y="6400800"/>
            <a:ext cx="887412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pPr algn="r" eaLnBrk="1" latinLnBrk="1" hangingPunct="1"/>
            <a:fld id="{FFAE9DA3-9CD7-47E5-9BC1-655F248C6FFB}" type="slidenum">
              <a:rPr kumimoji="1" lang="en-US" altLang="ko-KR" sz="1400"/>
              <a:pPr algn="r" eaLnBrk="1" latinLnBrk="1" hangingPunct="1"/>
              <a:t>3</a:t>
            </a:fld>
            <a:endParaRPr kumimoji="1" lang="en-US" altLang="ko-KR" sz="1400"/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323850" y="115888"/>
            <a:ext cx="8280400" cy="612775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ko-KR" altLang="en-US" smtClean="0"/>
              <a:t>과목 개요 </a:t>
            </a:r>
            <a:r>
              <a:rPr lang="en-US" altLang="ko-KR" smtClean="0"/>
              <a:t>(2) </a:t>
            </a:r>
          </a:p>
        </p:txBody>
      </p:sp>
      <p:sp>
        <p:nvSpPr>
          <p:cNvPr id="7172" name="Rectangle 3"/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285750" y="857250"/>
            <a:ext cx="8496300" cy="5524500"/>
          </a:xfrm>
          <a:prstGeom prst="rect">
            <a:avLst/>
          </a:prstGeo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ko-KR" altLang="en-US" sz="2600" dirty="0" smtClean="0"/>
              <a:t>교재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2200" dirty="0" err="1" smtClean="0">
                <a:sym typeface="Symbol" panose="05050102010706020507" pitchFamily="18" charset="2"/>
              </a:rPr>
              <a:t>주교재</a:t>
            </a:r>
            <a:r>
              <a:rPr lang="en-US" altLang="ko-KR" sz="2200" dirty="0" smtClean="0">
                <a:sym typeface="Symbol" panose="05050102010706020507" pitchFamily="18" charset="2"/>
              </a:rPr>
              <a:t>: Operating System Concepts </a:t>
            </a:r>
            <a:r>
              <a:rPr lang="ko-KR" altLang="en-US" sz="2200" dirty="0" err="1" smtClean="0">
                <a:sym typeface="Symbol" panose="05050102010706020507" pitchFamily="18" charset="2"/>
              </a:rPr>
              <a:t>에센셜</a:t>
            </a:r>
            <a:r>
              <a:rPr lang="ko-KR" altLang="en-US" sz="2200" dirty="0" smtClean="0">
                <a:sym typeface="Symbol" panose="05050102010706020507" pitchFamily="18" charset="2"/>
              </a:rPr>
              <a:t> </a:t>
            </a:r>
            <a:r>
              <a:rPr lang="en-US" altLang="ko-KR" sz="2200" dirty="0" smtClean="0">
                <a:sym typeface="Symbol" panose="05050102010706020507" pitchFamily="18" charset="2"/>
              </a:rPr>
              <a:t>2</a:t>
            </a:r>
            <a:r>
              <a:rPr lang="ko-KR" altLang="en-US" sz="2200" dirty="0" smtClean="0">
                <a:sym typeface="Symbol" panose="05050102010706020507" pitchFamily="18" charset="2"/>
              </a:rPr>
              <a:t>판</a:t>
            </a:r>
            <a:r>
              <a:rPr lang="en-US" altLang="ko-KR" sz="2200" dirty="0" smtClean="0">
                <a:sym typeface="Symbol" panose="05050102010706020507" pitchFamily="18" charset="2"/>
              </a:rPr>
              <a:t>(</a:t>
            </a:r>
            <a:r>
              <a:rPr lang="ko-KR" altLang="en-US" sz="2200" dirty="0" smtClean="0">
                <a:sym typeface="Symbol" panose="05050102010706020507" pitchFamily="18" charset="2"/>
              </a:rPr>
              <a:t>한국어판</a:t>
            </a:r>
            <a:r>
              <a:rPr lang="en-US" altLang="ko-KR" sz="2200" dirty="0" smtClean="0">
                <a:sym typeface="Symbol" panose="05050102010706020507" pitchFamily="18" charset="2"/>
              </a:rPr>
              <a:t>), </a:t>
            </a:r>
            <a:r>
              <a:rPr lang="en-US" altLang="ko-KR" sz="2200" dirty="0" err="1" smtClean="0">
                <a:sym typeface="Symbol" panose="05050102010706020507" pitchFamily="18" charset="2"/>
              </a:rPr>
              <a:t>Silberschatz</a:t>
            </a:r>
            <a:r>
              <a:rPr lang="en-US" altLang="ko-KR" sz="2200" dirty="0" smtClean="0">
                <a:sym typeface="Symbol" panose="05050102010706020507" pitchFamily="18" charset="2"/>
              </a:rPr>
              <a:t> </a:t>
            </a:r>
            <a:r>
              <a:rPr lang="ko-KR" altLang="en-US" sz="2200" dirty="0" smtClean="0">
                <a:sym typeface="Symbol" panose="05050102010706020507" pitchFamily="18" charset="2"/>
              </a:rPr>
              <a:t>등 저 </a:t>
            </a:r>
            <a:r>
              <a:rPr lang="en-US" altLang="ko-KR" sz="2200" dirty="0" smtClean="0">
                <a:sym typeface="Symbol" panose="05050102010706020507" pitchFamily="18" charset="2"/>
              </a:rPr>
              <a:t>(</a:t>
            </a:r>
            <a:r>
              <a:rPr lang="ko-KR" altLang="en-US" sz="2200" dirty="0" err="1" smtClean="0">
                <a:sym typeface="Symbol" panose="05050102010706020507" pitchFamily="18" charset="2"/>
              </a:rPr>
              <a:t>조유근</a:t>
            </a:r>
            <a:r>
              <a:rPr lang="ko-KR" altLang="en-US" sz="2200" dirty="0" smtClean="0">
                <a:sym typeface="Symbol" panose="05050102010706020507" pitchFamily="18" charset="2"/>
              </a:rPr>
              <a:t> 등 번역</a:t>
            </a:r>
            <a:r>
              <a:rPr lang="en-US" altLang="ko-KR" sz="2200" dirty="0" smtClean="0">
                <a:sym typeface="Symbol" panose="05050102010706020507" pitchFamily="18" charset="2"/>
              </a:rPr>
              <a:t>, </a:t>
            </a:r>
            <a:r>
              <a:rPr lang="ko-KR" altLang="en-US" sz="2200" dirty="0" smtClean="0">
                <a:sym typeface="Symbol" panose="05050102010706020507" pitchFamily="18" charset="2"/>
              </a:rPr>
              <a:t>홍릉과학출판사</a:t>
            </a:r>
            <a:r>
              <a:rPr lang="en-US" altLang="ko-KR" sz="2200" dirty="0" smtClean="0">
                <a:sym typeface="Symbol" panose="05050102010706020507" pitchFamily="18" charset="2"/>
              </a:rPr>
              <a:t>)</a:t>
            </a:r>
            <a:endParaRPr lang="ko-KR" altLang="en-US" sz="2200" dirty="0" smtClean="0">
              <a:sym typeface="Symbol" panose="05050102010706020507" pitchFamily="18" charset="2"/>
            </a:endParaRPr>
          </a:p>
          <a:p>
            <a:pPr lvl="1" eaLnBrk="1" hangingPunct="1">
              <a:lnSpc>
                <a:spcPct val="80000"/>
              </a:lnSpc>
            </a:pPr>
            <a:r>
              <a:rPr lang="ko-KR" altLang="en-US" sz="2200" dirty="0" err="1" smtClean="0">
                <a:sym typeface="Symbol" panose="05050102010706020507" pitchFamily="18" charset="2"/>
              </a:rPr>
              <a:t>보조교재</a:t>
            </a:r>
            <a:r>
              <a:rPr lang="en-US" altLang="ko-KR" sz="2200" dirty="0" smtClean="0">
                <a:sym typeface="Symbol" panose="05050102010706020507" pitchFamily="18" charset="2"/>
              </a:rPr>
              <a:t>: </a:t>
            </a:r>
            <a:r>
              <a:rPr lang="ko-KR" altLang="en-US" sz="2200" dirty="0" smtClean="0">
                <a:sym typeface="Symbol" panose="05050102010706020507" pitchFamily="18" charset="2"/>
              </a:rPr>
              <a:t>자체 </a:t>
            </a:r>
            <a:r>
              <a:rPr lang="ko-KR" altLang="en-US" sz="2200" dirty="0" err="1" smtClean="0">
                <a:sym typeface="Symbol" panose="05050102010706020507" pitchFamily="18" charset="2"/>
              </a:rPr>
              <a:t>강의교안</a:t>
            </a:r>
            <a:r>
              <a:rPr lang="ko-KR" altLang="en-US" sz="2200" dirty="0" smtClean="0">
                <a:sym typeface="Symbol" panose="05050102010706020507" pitchFamily="18" charset="2"/>
              </a:rPr>
              <a:t> 제공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 smtClean="0">
              <a:sym typeface="Symbol" panose="05050102010706020507" pitchFamily="18" charset="2"/>
            </a:endParaRPr>
          </a:p>
          <a:p>
            <a:pPr eaLnBrk="1" hangingPunct="1">
              <a:lnSpc>
                <a:spcPct val="80000"/>
              </a:lnSpc>
            </a:pPr>
            <a:r>
              <a:rPr lang="ko-KR" altLang="en-US" sz="2600" dirty="0" smtClean="0"/>
              <a:t>담당교수</a:t>
            </a:r>
            <a:r>
              <a:rPr lang="en-US" altLang="ko-KR" sz="2600" dirty="0" smtClean="0"/>
              <a:t>: </a:t>
            </a:r>
            <a:r>
              <a:rPr lang="ko-KR" altLang="en-US" sz="2600" dirty="0" err="1" smtClean="0"/>
              <a:t>이완연</a:t>
            </a:r>
            <a:endParaRPr lang="ko-KR" altLang="en-US" sz="2600" dirty="0" smtClean="0"/>
          </a:p>
          <a:p>
            <a:pPr lvl="1" eaLnBrk="1" hangingPunct="1">
              <a:lnSpc>
                <a:spcPct val="80000"/>
              </a:lnSpc>
            </a:pPr>
            <a:r>
              <a:rPr lang="ko-KR" altLang="en-US" sz="2200" dirty="0" smtClean="0"/>
              <a:t>연구실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인문관 </a:t>
            </a:r>
            <a:r>
              <a:rPr lang="en-US" altLang="ko-KR" sz="2200" dirty="0" smtClean="0"/>
              <a:t>B310</a:t>
            </a:r>
            <a:endParaRPr lang="ko-KR" altLang="en-US" sz="2200" dirty="0" smtClean="0"/>
          </a:p>
          <a:p>
            <a:pPr lvl="1" eaLnBrk="1" hangingPunct="1">
              <a:lnSpc>
                <a:spcPct val="80000"/>
              </a:lnSpc>
            </a:pPr>
            <a:r>
              <a:rPr lang="ko-KR" altLang="en-US" sz="2200" dirty="0" smtClean="0"/>
              <a:t>전화</a:t>
            </a:r>
            <a:r>
              <a:rPr lang="en-US" altLang="ko-KR" sz="2200" dirty="0" smtClean="0"/>
              <a:t>: 02-940-4685</a:t>
            </a:r>
          </a:p>
          <a:p>
            <a:pPr lvl="1" eaLnBrk="1" hangingPunct="1">
              <a:lnSpc>
                <a:spcPct val="80000"/>
              </a:lnSpc>
            </a:pPr>
            <a:r>
              <a:rPr lang="en-US" altLang="ko-KR" sz="2200" dirty="0" smtClean="0"/>
              <a:t>Email: wanlee@dongduk.ac.kr 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200" dirty="0" smtClean="0"/>
          </a:p>
          <a:p>
            <a:pPr eaLnBrk="1" hangingPunct="1">
              <a:lnSpc>
                <a:spcPct val="80000"/>
              </a:lnSpc>
            </a:pPr>
            <a:r>
              <a:rPr lang="en-US" altLang="ko-KR" sz="2400" dirty="0" smtClean="0"/>
              <a:t>Office Hour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2200" dirty="0" smtClean="0"/>
              <a:t>전화</a:t>
            </a:r>
            <a:r>
              <a:rPr lang="en-US" altLang="ko-KR" sz="2200" dirty="0" smtClean="0"/>
              <a:t>: </a:t>
            </a:r>
            <a:r>
              <a:rPr lang="ko-KR" altLang="en-US" sz="2200" dirty="0" smtClean="0"/>
              <a:t>화요일 </a:t>
            </a:r>
            <a:r>
              <a:rPr lang="en-US" altLang="ko-KR" sz="2200" dirty="0" smtClean="0"/>
              <a:t>5,6</a:t>
            </a:r>
            <a:r>
              <a:rPr lang="ko-KR" altLang="en-US" sz="2200" dirty="0" smtClean="0"/>
              <a:t>교시 </a:t>
            </a:r>
            <a:r>
              <a:rPr lang="en-US" altLang="ko-KR" sz="2200" dirty="0" smtClean="0"/>
              <a:t>(3:00 ~ 5:45)</a:t>
            </a:r>
          </a:p>
          <a:p>
            <a:pPr lvl="1" eaLnBrk="1" hangingPunct="1">
              <a:lnSpc>
                <a:spcPct val="80000"/>
              </a:lnSpc>
            </a:pPr>
            <a:endParaRPr lang="en-US" altLang="ko-KR" sz="2400" dirty="0" smtClean="0"/>
          </a:p>
          <a:p>
            <a:pPr eaLnBrk="1" hangingPunct="1">
              <a:lnSpc>
                <a:spcPct val="80000"/>
              </a:lnSpc>
            </a:pPr>
            <a:r>
              <a:rPr lang="ko-KR" altLang="en-US" sz="2400" dirty="0" smtClean="0"/>
              <a:t>수업자료 웹 주소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2200" dirty="0" err="1" smtClean="0"/>
              <a:t>이클래스</a:t>
            </a:r>
            <a:r>
              <a:rPr lang="ko-KR" altLang="en-US" sz="2200" dirty="0" smtClean="0"/>
              <a:t> </a:t>
            </a:r>
            <a:r>
              <a:rPr lang="en-US" altLang="ko-KR" sz="2200" dirty="0" smtClean="0"/>
              <a:t>(eclass.dongduk.ac.kr): </a:t>
            </a:r>
            <a:r>
              <a:rPr lang="en-US" altLang="ko-KR" sz="2200" dirty="0" smtClean="0">
                <a:solidFill>
                  <a:schemeClr val="accent2"/>
                </a:solidFill>
              </a:rPr>
              <a:t>“</a:t>
            </a:r>
            <a:r>
              <a:rPr lang="ko-KR" altLang="en-US" sz="2200" dirty="0" smtClean="0">
                <a:solidFill>
                  <a:schemeClr val="accent2"/>
                </a:solidFill>
              </a:rPr>
              <a:t>운영체제”</a:t>
            </a:r>
          </a:p>
          <a:p>
            <a:pPr lvl="1" eaLnBrk="1" hangingPunct="1">
              <a:lnSpc>
                <a:spcPct val="80000"/>
              </a:lnSpc>
            </a:pPr>
            <a:r>
              <a:rPr lang="ko-KR" altLang="en-US" sz="2200" dirty="0" smtClean="0">
                <a:solidFill>
                  <a:schemeClr val="accent2"/>
                </a:solidFill>
              </a:rPr>
              <a:t>글 </a:t>
            </a:r>
            <a:r>
              <a:rPr lang="ko-KR" altLang="en-US" sz="2200" dirty="0" err="1" smtClean="0">
                <a:solidFill>
                  <a:schemeClr val="accent2"/>
                </a:solidFill>
              </a:rPr>
              <a:t>게재시에는</a:t>
            </a:r>
            <a:r>
              <a:rPr lang="ko-KR" altLang="en-US" sz="2200" dirty="0" smtClean="0">
                <a:solidFill>
                  <a:schemeClr val="accent2"/>
                </a:solidFill>
              </a:rPr>
              <a:t> 실명 사용 원칙</a:t>
            </a:r>
            <a:endParaRPr lang="en-US" altLang="ko-KR" sz="2200" dirty="0" smtClean="0">
              <a:solidFill>
                <a:schemeClr val="accent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슬라이드 번호 개체 틀 3"/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Tahoma" panose="020B0604030504040204" pitchFamily="34" charset="0"/>
                <a:ea typeface="굴림" panose="020B0600000101010101" pitchFamily="50" charset="-127"/>
              </a:defRPr>
            </a:lvl9pPr>
          </a:lstStyle>
          <a:p>
            <a:fld id="{F7BA0EEB-AF7C-4E2A-88F6-C68FB9095A94}" type="slidenum">
              <a:rPr lang="en-US" altLang="ko-KR" sz="1400" smtClean="0"/>
              <a:pPr/>
              <a:t>4</a:t>
            </a:fld>
            <a:endParaRPr lang="en-US" altLang="ko-KR" sz="1400" smtClean="0"/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5888"/>
            <a:ext cx="8280400" cy="612775"/>
          </a:xfrm>
          <a:solidFill>
            <a:srgbClr val="FFFFFF"/>
          </a:solidFill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ko-KR" altLang="en-US" smtClean="0"/>
              <a:t>강의 계획 </a:t>
            </a:r>
            <a:r>
              <a:rPr lang="en-US" altLang="ko-KR" smtClean="0"/>
              <a:t>(</a:t>
            </a:r>
            <a:r>
              <a:rPr lang="ko-KR" altLang="en-US" smtClean="0"/>
              <a:t>상황에 따라 변경 가능</a:t>
            </a:r>
            <a:r>
              <a:rPr lang="en-US" altLang="ko-KR" smtClean="0"/>
              <a:t>)</a:t>
            </a:r>
          </a:p>
        </p:txBody>
      </p:sp>
      <p:graphicFrame>
        <p:nvGraphicFramePr>
          <p:cNvPr id="5205" name="Group 8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2725437"/>
              </p:ext>
            </p:extLst>
          </p:nvPr>
        </p:nvGraphicFramePr>
        <p:xfrm>
          <a:off x="468313" y="836613"/>
          <a:ext cx="8353425" cy="5657844"/>
        </p:xfrm>
        <a:graphic>
          <a:graphicData uri="http://schemas.openxmlformats.org/drawingml/2006/table">
            <a:tbl>
              <a:tblPr/>
              <a:tblGrid>
                <a:gridCol w="15128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989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162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80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 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강의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교과목 소개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및 수강안내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1: VMware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설명 및 </a:t>
                      </a:r>
                      <a:r>
                        <a:rPr lang="ko-KR" altLang="en-US" sz="120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리눅스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설치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2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운영체제 소개 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리눅스 사용법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kern="1200" dirty="0" smtClean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3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2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프로세스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, 3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</a:t>
                      </a:r>
                      <a:r>
                        <a:rPr kumimoji="0" lang="ko-KR" alt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쓰레드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리눅스 사용법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4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4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 CPU 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스케줄링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리눅스 사용법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ko-KR" altLang="en-US" sz="1200" kern="1200" dirty="0" smtClean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5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4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 CPU 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스케줄링 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5: vi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에디터 사용법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6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5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프로세스 동기화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컴파일 및 모듈 프로그램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7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5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프로세스 동기화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7: </a:t>
                      </a:r>
                      <a:r>
                        <a:rPr lang="ko-KR" altLang="en-US" sz="120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쓰레드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20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세마포어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프로그램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ko-KR" altLang="en-US" sz="12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836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8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35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중간고사 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(</a:t>
                      </a:r>
                      <a:r>
                        <a:rPr kumimoji="0" lang="ko-KR" altLang="en-US" sz="1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목요일 </a:t>
                      </a:r>
                      <a:r>
                        <a:rPr kumimoji="0" lang="en-US" altLang="ko-KR" sz="1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</a:t>
                      </a:r>
                      <a:r>
                        <a:rPr kumimoji="0" lang="ko-KR" altLang="en-US" sz="1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교시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)</a:t>
                      </a:r>
                      <a:endParaRPr kumimoji="0" lang="en-US" altLang="ko-KR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smtClean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9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6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교착상태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fontAlgn="base" latinLnBrk="0"/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8: </a:t>
                      </a:r>
                      <a:r>
                        <a:rPr lang="ko-KR" altLang="en-US" sz="120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쓰레드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및 </a:t>
                      </a:r>
                      <a:r>
                        <a:rPr lang="ko-KR" altLang="en-US" sz="1200" kern="1200" dirty="0" err="1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세마포어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프로그램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lang="ko-KR" altLang="en-US" sz="1200" kern="1200" dirty="0">
                        <a:solidFill>
                          <a:schemeClr val="accent2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10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6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교착상태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리눅스 사용법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11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7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</a:t>
                      </a:r>
                      <a:r>
                        <a:rPr kumimoji="0" lang="ko-KR" alt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주메모리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프로세스간 통신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12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7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주메모리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11: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프로세스간 통신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13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8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가상메모리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실습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12: </a:t>
                      </a:r>
                      <a:r>
                        <a:rPr lang="ko-KR" altLang="en-US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프로세스간 통신 </a:t>
                      </a:r>
                      <a:r>
                        <a:rPr lang="en-US" altLang="ko-KR" sz="1200" kern="1200" dirty="0" smtClean="0">
                          <a:solidFill>
                            <a:schemeClr val="accent2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14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9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~ 10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 파일시스템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11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장</a:t>
                      </a: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 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대용량 저장장치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15</a:t>
                      </a:r>
                      <a:r>
                        <a:rPr kumimoji="0" lang="ko-KR" altLang="en-US" sz="1200" b="0" i="0" u="none" strike="noStrike" cap="none" normalizeH="0" baseline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공휴일에 따른 보강 일정</a:t>
                      </a: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공휴일에 따른 보강 일정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EC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30245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16</a:t>
                      </a:r>
                      <a:r>
                        <a:rPr kumimoji="0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주차</a:t>
                      </a: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기말고사 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(</a:t>
                      </a:r>
                      <a:r>
                        <a:rPr kumimoji="0" lang="ko-KR" altLang="en-US" sz="1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목요일 </a:t>
                      </a:r>
                      <a:r>
                        <a:rPr kumimoji="0" lang="en-US" altLang="ko-KR" sz="1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1</a:t>
                      </a:r>
                      <a:r>
                        <a:rPr kumimoji="0" lang="ko-KR" altLang="en-US" sz="12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교시</a:t>
                      </a:r>
                      <a:r>
                        <a:rPr kumimoji="0" lang="en-US" altLang="ko-KR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새굴림" pitchFamily="18" charset="-127"/>
                          <a:ea typeface="새굴림" pitchFamily="18" charset="-127"/>
                        </a:rPr>
                        <a:t>)</a:t>
                      </a:r>
                      <a:endParaRPr kumimoji="0" lang="ko-KR" altLang="en-US" sz="12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ko-KR" altLang="en-US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새굴림" pitchFamily="18" charset="-127"/>
                        <a:ea typeface="새굴림" pitchFamily="18" charset="-127"/>
                      </a:endParaRPr>
                    </a:p>
                  </a:txBody>
                  <a:tcPr marL="91445" marR="91445" marT="45722" marB="45722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6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기본 디자인">
  <a:themeElements>
    <a:clrScheme name="기본 디자인 5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FFCC66"/>
      </a:accent1>
      <a:accent2>
        <a:srgbClr val="0000FF"/>
      </a:accent2>
      <a:accent3>
        <a:srgbClr val="FFFFFF"/>
      </a:accent3>
      <a:accent4>
        <a:srgbClr val="000000"/>
      </a:accent4>
      <a:accent5>
        <a:srgbClr val="FFE2B8"/>
      </a:accent5>
      <a:accent6>
        <a:srgbClr val="0000E7"/>
      </a:accent6>
      <a:hlink>
        <a:srgbClr val="CC00CC"/>
      </a:hlink>
      <a:folHlink>
        <a:srgbClr val="C0C0C0"/>
      </a:folHlink>
    </a:clrScheme>
    <a:fontScheme name="기본 디자인">
      <a:majorFont>
        <a:latin typeface="새굴림"/>
        <a:ea typeface="새굴림"/>
        <a:cs typeface=""/>
      </a:majorFont>
      <a:minorFont>
        <a:latin typeface="새굴림"/>
        <a:ea typeface="새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54000" tIns="46800" rIns="54000" bIns="4680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54000" tIns="46800" rIns="54000" bIns="46800" numCol="1" anchor="t" anchorCtr="0" compatLnSpc="1">
        <a:prstTxWarp prst="textNoShape">
          <a:avLst/>
        </a:prstTxWarp>
      </a:bodyPr>
      <a:lstStyle>
        <a:defPPr marL="0" marR="0" indent="0" algn="ct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ko-KR" alt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12732</TotalTime>
  <Words>413</Words>
  <Application>Microsoft Office PowerPoint</Application>
  <PresentationFormat>화면 슬라이드 쇼(4:3)</PresentationFormat>
  <Paragraphs>94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1" baseType="lpstr">
      <vt:lpstr>굴림</vt:lpstr>
      <vt:lpstr>새굴림</vt:lpstr>
      <vt:lpstr>Symbol</vt:lpstr>
      <vt:lpstr>Tahoma</vt:lpstr>
      <vt:lpstr>Times New Roman</vt:lpstr>
      <vt:lpstr>Wingdings</vt:lpstr>
      <vt:lpstr>기본 디자인</vt:lpstr>
      <vt:lpstr>운영체제  교과목 소개</vt:lpstr>
      <vt:lpstr>과목 개요 (1)</vt:lpstr>
      <vt:lpstr>과목 개요 (2) </vt:lpstr>
      <vt:lpstr>강의 계획 (상황에 따라 변경 가능)</vt:lpstr>
    </vt:vector>
  </TitlesOfParts>
  <Company>Hallym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200702_논리시스템설계강의</dc:title>
  <dc:subject>강의</dc:subject>
  <dc:creator>이선우</dc:creator>
  <cp:lastModifiedBy>DDWU</cp:lastModifiedBy>
  <cp:revision>417</cp:revision>
  <cp:lastPrinted>2002-10-16T08:04:21Z</cp:lastPrinted>
  <dcterms:created xsi:type="dcterms:W3CDTF">2002-10-14T01:42:44Z</dcterms:created>
  <dcterms:modified xsi:type="dcterms:W3CDTF">2023-08-29T13:43:21Z</dcterms:modified>
</cp:coreProperties>
</file>